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2" r:id="rId7"/>
    <p:sldId id="261"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0EE720-96C5-408A-AC08-5F6D0EE12343}" v="6" dt="2026-09-22T05:36:13.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muri praveen" userId="a20984acd51cdb45" providerId="LiveId" clId="{CCC7D7D8-F44A-452E-8E03-A99B84A4CDCD}"/>
    <pc:docChg chg="undo custSel addSld delSld modSld sldOrd">
      <pc:chgData name="vemuri praveen" userId="a20984acd51cdb45" providerId="LiveId" clId="{CCC7D7D8-F44A-452E-8E03-A99B84A4CDCD}" dt="2026-09-22T05:36:17.256" v="1062" actId="478"/>
      <pc:docMkLst>
        <pc:docMk/>
      </pc:docMkLst>
      <pc:sldChg chg="modSp mod">
        <pc:chgData name="vemuri praveen" userId="a20984acd51cdb45" providerId="LiveId" clId="{CCC7D7D8-F44A-452E-8E03-A99B84A4CDCD}" dt="2026-09-22T04:21:57.026" v="965" actId="20577"/>
        <pc:sldMkLst>
          <pc:docMk/>
          <pc:sldMk cId="4123644075" sldId="256"/>
        </pc:sldMkLst>
        <pc:spChg chg="mod">
          <ac:chgData name="vemuri praveen" userId="a20984acd51cdb45" providerId="LiveId" clId="{CCC7D7D8-F44A-452E-8E03-A99B84A4CDCD}" dt="2026-09-22T04:21:57.026" v="965" actId="20577"/>
          <ac:spMkLst>
            <pc:docMk/>
            <pc:sldMk cId="4123644075" sldId="256"/>
            <ac:spMk id="2" creationId="{7838F1B7-DEA6-5174-C257-BBFB1309D3EB}"/>
          </ac:spMkLst>
        </pc:spChg>
      </pc:sldChg>
      <pc:sldChg chg="add del">
        <pc:chgData name="vemuri praveen" userId="a20984acd51cdb45" providerId="LiveId" clId="{CCC7D7D8-F44A-452E-8E03-A99B84A4CDCD}" dt="2026-09-22T05:36:09.969" v="1050" actId="2696"/>
        <pc:sldMkLst>
          <pc:docMk/>
          <pc:sldMk cId="695490275" sldId="259"/>
        </pc:sldMkLst>
      </pc:sldChg>
      <pc:sldChg chg="modSp mod">
        <pc:chgData name="vemuri praveen" userId="a20984acd51cdb45" providerId="LiveId" clId="{CCC7D7D8-F44A-452E-8E03-A99B84A4CDCD}" dt="2026-09-22T05:36:09.705" v="1049" actId="20577"/>
        <pc:sldMkLst>
          <pc:docMk/>
          <pc:sldMk cId="1310849433" sldId="260"/>
        </pc:sldMkLst>
        <pc:spChg chg="mod">
          <ac:chgData name="vemuri praveen" userId="a20984acd51cdb45" providerId="LiveId" clId="{CCC7D7D8-F44A-452E-8E03-A99B84A4CDCD}" dt="2026-09-22T05:36:09.705" v="1049" actId="20577"/>
          <ac:spMkLst>
            <pc:docMk/>
            <pc:sldMk cId="1310849433" sldId="260"/>
            <ac:spMk id="4" creationId="{533BDE22-DE09-2CBE-4B95-02145A7DBE52}"/>
          </ac:spMkLst>
        </pc:spChg>
        <pc:spChg chg="mod">
          <ac:chgData name="vemuri praveen" userId="a20984acd51cdb45" providerId="LiveId" clId="{CCC7D7D8-F44A-452E-8E03-A99B84A4CDCD}" dt="2026-09-22T05:36:09.705" v="1049" actId="20577"/>
          <ac:spMkLst>
            <pc:docMk/>
            <pc:sldMk cId="1310849433" sldId="260"/>
            <ac:spMk id="6" creationId="{4317B867-341A-A5E3-C168-426DFE588211}"/>
          </ac:spMkLst>
        </pc:spChg>
      </pc:sldChg>
      <pc:sldChg chg="addSp delSp modSp mod">
        <pc:chgData name="vemuri praveen" userId="a20984acd51cdb45" providerId="LiveId" clId="{CCC7D7D8-F44A-452E-8E03-A99B84A4CDCD}" dt="2026-09-22T05:36:17.256" v="1062" actId="478"/>
        <pc:sldMkLst>
          <pc:docMk/>
          <pc:sldMk cId="2046499400" sldId="261"/>
        </pc:sldMkLst>
        <pc:spChg chg="add del">
          <ac:chgData name="vemuri praveen" userId="a20984acd51cdb45" providerId="LiveId" clId="{CCC7D7D8-F44A-452E-8E03-A99B84A4CDCD}" dt="2026-09-22T05:36:14.045" v="1060" actId="478"/>
          <ac:spMkLst>
            <pc:docMk/>
            <pc:sldMk cId="2046499400" sldId="261"/>
            <ac:spMk id="2" creationId="{A721BF8B-BFCA-839E-6A61-7241179E3330}"/>
          </ac:spMkLst>
        </pc:spChg>
        <pc:spChg chg="add del mod">
          <ac:chgData name="vemuri praveen" userId="a20984acd51cdb45" providerId="LiveId" clId="{CCC7D7D8-F44A-452E-8E03-A99B84A4CDCD}" dt="2026-09-22T05:36:14.045" v="1060" actId="478"/>
          <ac:spMkLst>
            <pc:docMk/>
            <pc:sldMk cId="2046499400" sldId="261"/>
            <ac:spMk id="4" creationId="{E1AE0040-45C4-0B7F-CDD2-4028A66FBCBB}"/>
          </ac:spMkLst>
        </pc:spChg>
        <pc:spChg chg="add mod">
          <ac:chgData name="vemuri praveen" userId="a20984acd51cdb45" providerId="LiveId" clId="{CCC7D7D8-F44A-452E-8E03-A99B84A4CDCD}" dt="2026-09-22T05:36:12.495" v="1058" actId="767"/>
          <ac:spMkLst>
            <pc:docMk/>
            <pc:sldMk cId="2046499400" sldId="261"/>
            <ac:spMk id="5" creationId="{985D8864-07DD-BEC1-07B0-BE5D78F95FCB}"/>
          </ac:spMkLst>
        </pc:spChg>
        <pc:spChg chg="mod">
          <ac:chgData name="vemuri praveen" userId="a20984acd51cdb45" providerId="LiveId" clId="{CCC7D7D8-F44A-452E-8E03-A99B84A4CDCD}" dt="2026-09-22T04:38:42.525" v="990" actId="20577"/>
          <ac:spMkLst>
            <pc:docMk/>
            <pc:sldMk cId="2046499400" sldId="261"/>
            <ac:spMk id="13" creationId="{381FCACB-369A-E37F-1F67-1D8B4F213821}"/>
          </ac:spMkLst>
        </pc:spChg>
        <pc:grpChg chg="mod">
          <ac:chgData name="vemuri praveen" userId="a20984acd51cdb45" providerId="LiveId" clId="{CCC7D7D8-F44A-452E-8E03-A99B84A4CDCD}" dt="2026-09-22T05:36:14.487" v="1061" actId="1076"/>
          <ac:grpSpMkLst>
            <pc:docMk/>
            <pc:sldMk cId="2046499400" sldId="261"/>
            <ac:grpSpMk id="6" creationId="{E43FC688-8562-5F44-5FF0-159EBC869CF8}"/>
          </ac:grpSpMkLst>
        </pc:grpChg>
        <pc:picChg chg="add del">
          <ac:chgData name="vemuri praveen" userId="a20984acd51cdb45" providerId="LiveId" clId="{CCC7D7D8-F44A-452E-8E03-A99B84A4CDCD}" dt="2026-09-22T05:36:17.256" v="1062" actId="478"/>
          <ac:picMkLst>
            <pc:docMk/>
            <pc:sldMk cId="2046499400" sldId="261"/>
            <ac:picMk id="25" creationId="{4831159E-F658-52BC-2CA5-85A827B096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66092-80AF-4961-8980-1FD8177B5A80}" type="datetimeFigureOut">
              <a:rPr lang="en-IN" smtClean="0"/>
              <a:t>22-09-2026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A524EC-8FC2-4D4E-AB12-B6B3DF118320}" type="slidenum">
              <a:rPr lang="en-IN" smtClean="0"/>
              <a:t>‹#›</a:t>
            </a:fld>
            <a:endParaRPr lang="en-IN"/>
          </a:p>
        </p:txBody>
      </p:sp>
    </p:spTree>
    <p:extLst>
      <p:ext uri="{BB962C8B-B14F-4D97-AF65-F5344CB8AC3E}">
        <p14:creationId xmlns:p14="http://schemas.microsoft.com/office/powerpoint/2010/main" val="4124766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A524EC-8FC2-4D4E-AB12-B6B3DF118320}" type="slidenum">
              <a:rPr lang="en-IN" smtClean="0"/>
              <a:t>1</a:t>
            </a:fld>
            <a:endParaRPr lang="en-IN"/>
          </a:p>
        </p:txBody>
      </p:sp>
    </p:spTree>
    <p:extLst>
      <p:ext uri="{BB962C8B-B14F-4D97-AF65-F5344CB8AC3E}">
        <p14:creationId xmlns:p14="http://schemas.microsoft.com/office/powerpoint/2010/main" val="2098075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B6706-6575-23AD-5A05-24210FD614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6FB0AE-1F01-F6A8-9844-5E5633AEF4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BB69BF2-19B5-DB70-44DA-36C47A513158}"/>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F6CFE1E0-5E5D-75EA-C9A0-75F729B4B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34398F-E28A-F064-5CB8-72610E9805C6}"/>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1251235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2D10-0444-1651-11AF-0170FCF890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739A90-E073-A08B-4DDF-E07ED76E0F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9AFC96-9E62-C0A0-B934-9E83812AC56B}"/>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D234DEE9-7BE7-BE6D-0751-5BD058879D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2C8987-0589-35CB-98B2-ABB4B4131CCB}"/>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2103304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4C98F-03A6-EEEC-1533-60F73A5CCD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581904-EFB0-5770-081A-B0359B497E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151BD5-9DA1-1899-5F6A-A1A51F4B41BF}"/>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5C02BDDA-0B44-C17B-B3C6-AE387F5AEC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49CAB1-1DA3-32B2-2B6A-A3CC7C1C0CD3}"/>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2058559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1B669-72DA-AB7F-4DB2-C4CA795F2D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F96EED-29D7-D664-2D51-D9B442F8D6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AD1DEB-26BD-4CC4-1F5B-53711CD735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95F85E-8203-F0F4-6772-D1747BBC27EA}"/>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6" name="Footer Placeholder 5">
            <a:extLst>
              <a:ext uri="{FF2B5EF4-FFF2-40B4-BE49-F238E27FC236}">
                <a16:creationId xmlns:a16="http://schemas.microsoft.com/office/drawing/2014/main" id="{D2499CC3-4ED6-6904-2E72-D148AC2CD4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B80471-CA69-AA10-6E68-5F6660A9C2F7}"/>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1905569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9FA3E-11FD-DB68-F05F-8BC4F08434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C4A8A2-328D-63E2-C9E0-BD2F55210E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F3FCA5-212A-2DCD-AFB7-B47F875C9C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51246E-FD09-267B-FDBB-98AE7F1E13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D29C10-0030-F881-3C0C-0458A75E89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8D0B224-27E8-E62C-2437-6D4728705C62}"/>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8" name="Footer Placeholder 7">
            <a:extLst>
              <a:ext uri="{FF2B5EF4-FFF2-40B4-BE49-F238E27FC236}">
                <a16:creationId xmlns:a16="http://schemas.microsoft.com/office/drawing/2014/main" id="{145814CD-3993-2466-C643-02F474450B1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9D5F5-B9A7-6A7C-5C31-62F2B1FF4048}"/>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992640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3FD3-F1CC-22EA-AA12-AB0A76EBD0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B76C80-B35C-A079-67C1-68E497CF6944}"/>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4" name="Footer Placeholder 3">
            <a:extLst>
              <a:ext uri="{FF2B5EF4-FFF2-40B4-BE49-F238E27FC236}">
                <a16:creationId xmlns:a16="http://schemas.microsoft.com/office/drawing/2014/main" id="{7E6D3BAB-2F1A-B6B3-8A0B-019C1061AB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109518-A879-2579-22F9-B1601FA18E83}"/>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171965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8E18B-3D35-1F90-DF3B-B9E58DD7157D}"/>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3" name="Footer Placeholder 2">
            <a:extLst>
              <a:ext uri="{FF2B5EF4-FFF2-40B4-BE49-F238E27FC236}">
                <a16:creationId xmlns:a16="http://schemas.microsoft.com/office/drawing/2014/main" id="{6EFB5BFD-7C84-37EA-0147-ABA937EE31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7CE11E-59BE-AF72-CF12-B991796F5476}"/>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3006754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1C6D-0BCB-5E59-E069-AF3EC38214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CBAF7B-8423-B2F1-C86D-C342BC7D36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AEAEEF-29A0-D813-669F-7DED912EF5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72B00-4B95-A955-C431-9B683C0C85C5}"/>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6" name="Footer Placeholder 5">
            <a:extLst>
              <a:ext uri="{FF2B5EF4-FFF2-40B4-BE49-F238E27FC236}">
                <a16:creationId xmlns:a16="http://schemas.microsoft.com/office/drawing/2014/main" id="{92300BFA-D2A7-9EB4-F5D8-07D99BABC0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009D6C-2AE6-2681-DAD7-28C01367C8FD}"/>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388683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89EDA-89F3-6963-11A6-5B11DA45ED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0906B6-0502-DCB5-E602-C9BE749A7C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D21339-7046-3376-A0A5-E56AC2B062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F50962-9F75-B422-A9FD-42F257BAEEE9}"/>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6" name="Footer Placeholder 5">
            <a:extLst>
              <a:ext uri="{FF2B5EF4-FFF2-40B4-BE49-F238E27FC236}">
                <a16:creationId xmlns:a16="http://schemas.microsoft.com/office/drawing/2014/main" id="{6CE8CFC5-BB10-2D9B-11CC-E1FB2A62D6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8AEB8F-EC02-55BA-0C0E-E0DA653E2E7D}"/>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990963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D659-3CC9-8645-EDD0-66B5A77A3F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D55E5E-83E2-4135-5A71-55EF039862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BBDA4C-7845-0C8A-9359-6A41AEEF0C00}"/>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E3BB5EB2-7A41-AE52-1FF4-2D061B253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37BB78-0635-AF20-E74B-71B8BE25D53B}"/>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1923007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24C153-7539-4B23-2232-B220A4BEE3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5FC86C-7244-AAB7-CB19-65F435F132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845358-1410-AFB4-85C2-644B82F8145B}"/>
              </a:ext>
            </a:extLst>
          </p:cNvPr>
          <p:cNvSpPr>
            <a:spLocks noGrp="1"/>
          </p:cNvSpPr>
          <p:nvPr>
            <p:ph type="dt" sz="half" idx="10"/>
          </p:nvPr>
        </p:nvSpPr>
        <p:spPr/>
        <p:txBody>
          <a:body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8CBC9822-4606-2FFC-8359-7087A021D9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765234-0994-12B5-C368-DD8AE2BE936E}"/>
              </a:ext>
            </a:extLst>
          </p:cNvPr>
          <p:cNvSpPr>
            <a:spLocks noGrp="1"/>
          </p:cNvSpPr>
          <p:nvPr>
            <p:ph type="sldNum" sz="quarter" idx="12"/>
          </p:nvPr>
        </p:nvSpPr>
        <p:spPr/>
        <p:txBody>
          <a:bodyPr/>
          <a:lstStyle/>
          <a:p>
            <a:fld id="{9B89EAC0-0441-4C1B-86E8-7EA2128D0D52}" type="slidenum">
              <a:rPr lang="en-IN" smtClean="0"/>
              <a:t>‹#›</a:t>
            </a:fld>
            <a:endParaRPr lang="en-IN"/>
          </a:p>
        </p:txBody>
      </p:sp>
    </p:spTree>
    <p:extLst>
      <p:ext uri="{BB962C8B-B14F-4D97-AF65-F5344CB8AC3E}">
        <p14:creationId xmlns:p14="http://schemas.microsoft.com/office/powerpoint/2010/main" val="927733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E9343-2FE2-6BA2-57CA-1238F6B346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82B7D3-78A5-7385-A6EF-5BD1C214C3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54A26-35F6-72EE-A972-5B55720A4A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E8E826-1F9B-4FD2-9178-F8C925073092}" type="datetimeFigureOut">
              <a:rPr lang="en-IN" smtClean="0"/>
              <a:t>22-09-2026</a:t>
            </a:fld>
            <a:endParaRPr lang="en-IN"/>
          </a:p>
        </p:txBody>
      </p:sp>
      <p:sp>
        <p:nvSpPr>
          <p:cNvPr id="5" name="Footer Placeholder 4">
            <a:extLst>
              <a:ext uri="{FF2B5EF4-FFF2-40B4-BE49-F238E27FC236}">
                <a16:creationId xmlns:a16="http://schemas.microsoft.com/office/drawing/2014/main" id="{D8B52DBF-22D0-CCD6-0569-882C2314F5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81F15B0-EF3A-E7BB-D09C-BD1CC0BF2F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89EAC0-0441-4C1B-86E8-7EA2128D0D52}" type="slidenum">
              <a:rPr lang="en-IN" smtClean="0"/>
              <a:t>‹#›</a:t>
            </a:fld>
            <a:endParaRPr lang="en-IN"/>
          </a:p>
        </p:txBody>
      </p:sp>
    </p:spTree>
    <p:extLst>
      <p:ext uri="{BB962C8B-B14F-4D97-AF65-F5344CB8AC3E}">
        <p14:creationId xmlns:p14="http://schemas.microsoft.com/office/powerpoint/2010/main" val="4091146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5" Type="http://schemas.openxmlformats.org/officeDocument/2006/relationships/image" Target="../media/image5.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F1B7-DEA6-5174-C257-BBFB1309D3EB}"/>
              </a:ext>
            </a:extLst>
          </p:cNvPr>
          <p:cNvSpPr>
            <a:spLocks noGrp="1"/>
          </p:cNvSpPr>
          <p:nvPr>
            <p:ph type="ctrTitle"/>
          </p:nvPr>
        </p:nvSpPr>
        <p:spPr>
          <a:xfrm>
            <a:off x="1209369" y="1436868"/>
            <a:ext cx="10078064" cy="1198050"/>
          </a:xfrm>
        </p:spPr>
        <p:txBody>
          <a:bodyPr>
            <a:noAutofit/>
          </a:bodyPr>
          <a:lstStyle/>
          <a:p>
            <a:r>
              <a:rPr lang="en-IN" sz="4400" dirty="0">
                <a:solidFill>
                  <a:schemeClr val="accent2"/>
                </a:solidFill>
                <a:latin typeface="Elephant" panose="02020904090505020303" pitchFamily="18" charset="0"/>
              </a:rPr>
              <a:t>Bank Account System</a:t>
            </a:r>
            <a:br>
              <a:rPr lang="en-IN" sz="1800" dirty="0"/>
            </a:br>
            <a:r>
              <a:rPr lang="en-IN" sz="1800" b="0" i="0" dirty="0">
                <a:solidFill>
                  <a:srgbClr val="0070C0"/>
                </a:solidFill>
                <a:effectLst/>
                <a:latin typeface="Elephant" panose="02020904090505020303" pitchFamily="18" charset="0"/>
              </a:rPr>
              <a:t>Object-Oriented Programming using C++ </a:t>
            </a:r>
            <a:br>
              <a:rPr lang="en-IN" sz="1800" b="0" i="0" dirty="0">
                <a:solidFill>
                  <a:srgbClr val="0070C0"/>
                </a:solidFill>
                <a:effectLst/>
                <a:latin typeface="Elephant" panose="02020904090505020303" pitchFamily="18" charset="0"/>
              </a:rPr>
            </a:br>
            <a:r>
              <a:rPr lang="en-IN" sz="1800" b="0" i="0" dirty="0">
                <a:solidFill>
                  <a:srgbClr val="0070C0"/>
                </a:solidFill>
                <a:effectLst/>
                <a:latin typeface="Elephant" panose="02020904090505020303" pitchFamily="18" charset="0"/>
              </a:rPr>
              <a:t>REVIEW </a:t>
            </a:r>
            <a:r>
              <a:rPr lang="en-IN" sz="1800" dirty="0">
                <a:solidFill>
                  <a:srgbClr val="0070C0"/>
                </a:solidFill>
                <a:latin typeface="Elephant" panose="02020904090505020303" pitchFamily="18" charset="0"/>
                <a:sym typeface="Wingdings" panose="05000000000000000000" pitchFamily="2" charset="2"/>
              </a:rPr>
              <a:t>-2</a:t>
            </a:r>
            <a:endParaRPr lang="en-IN" sz="1800" dirty="0">
              <a:solidFill>
                <a:srgbClr val="0070C0"/>
              </a:solidFill>
              <a:latin typeface="Elephant" panose="02020904090505020303" pitchFamily="18" charset="0"/>
            </a:endParaRPr>
          </a:p>
        </p:txBody>
      </p:sp>
      <p:sp>
        <p:nvSpPr>
          <p:cNvPr id="3" name="Subtitle 2">
            <a:extLst>
              <a:ext uri="{FF2B5EF4-FFF2-40B4-BE49-F238E27FC236}">
                <a16:creationId xmlns:a16="http://schemas.microsoft.com/office/drawing/2014/main" id="{981E9951-11F8-50C9-000E-A5C104630D6A}"/>
              </a:ext>
            </a:extLst>
          </p:cNvPr>
          <p:cNvSpPr>
            <a:spLocks noGrp="1"/>
          </p:cNvSpPr>
          <p:nvPr>
            <p:ph type="subTitle" idx="1"/>
          </p:nvPr>
        </p:nvSpPr>
        <p:spPr>
          <a:xfrm>
            <a:off x="1524000" y="2904551"/>
            <a:ext cx="9144000" cy="3683665"/>
          </a:xfrm>
        </p:spPr>
        <p:txBody>
          <a:bodyPr>
            <a:normAutofit/>
          </a:bodyPr>
          <a:lstStyle/>
          <a:p>
            <a:r>
              <a:rPr lang="en-IN" dirty="0">
                <a:solidFill>
                  <a:srgbClr val="FF0000"/>
                </a:solidFill>
              </a:rPr>
              <a:t>PRESENTED BY </a:t>
            </a:r>
          </a:p>
          <a:p>
            <a:r>
              <a:rPr lang="en-IN" sz="2600" b="0" i="0" u="none" strike="noStrike" dirty="0">
                <a:solidFill>
                  <a:schemeClr val="accent1">
                    <a:lumMod val="75000"/>
                  </a:schemeClr>
                </a:solidFill>
                <a:effectLst/>
                <a:latin typeface="Times New Roman" panose="02020603050405020304" pitchFamily="18" charset="0"/>
              </a:rPr>
              <a:t>V.PRAVEEN (25B11AIC71)</a:t>
            </a:r>
          </a:p>
          <a:p>
            <a:r>
              <a:rPr lang="en-IN" sz="2600" dirty="0">
                <a:solidFill>
                  <a:schemeClr val="accent1">
                    <a:lumMod val="75000"/>
                  </a:schemeClr>
                </a:solidFill>
                <a:latin typeface="Times New Roman" panose="02020603050405020304" pitchFamily="18" charset="0"/>
              </a:rPr>
              <a:t>K.SANTHOSH(25B11AI557)</a:t>
            </a:r>
            <a:endParaRPr lang="en-IN" sz="2600" b="0" i="0" u="none" strike="noStrike" dirty="0">
              <a:solidFill>
                <a:schemeClr val="accent1">
                  <a:lumMod val="75000"/>
                </a:schemeClr>
              </a:solidFill>
              <a:effectLst/>
              <a:latin typeface="Times New Roman" panose="02020603050405020304" pitchFamily="18" charset="0"/>
            </a:endParaRPr>
          </a:p>
          <a:p>
            <a:r>
              <a:rPr lang="en-IN" sz="2600" dirty="0">
                <a:solidFill>
                  <a:schemeClr val="accent1">
                    <a:lumMod val="75000"/>
                  </a:schemeClr>
                </a:solidFill>
                <a:latin typeface="Times New Roman" panose="02020603050405020304" pitchFamily="18" charset="0"/>
              </a:rPr>
              <a:t>O.SAI RAJA (25B11AI895)</a:t>
            </a:r>
          </a:p>
          <a:p>
            <a:r>
              <a:rPr lang="en-IN" sz="2600" dirty="0">
                <a:solidFill>
                  <a:schemeClr val="accent1">
                    <a:lumMod val="75000"/>
                  </a:schemeClr>
                </a:solidFill>
                <a:latin typeface="Times New Roman" panose="02020603050405020304" pitchFamily="18" charset="0"/>
              </a:rPr>
              <a:t>N.VAMSI KRISHANA(26B11AI079)</a:t>
            </a:r>
          </a:p>
          <a:p>
            <a:r>
              <a:rPr lang="en-IN" sz="2000" dirty="0">
                <a:solidFill>
                  <a:srgbClr val="000000"/>
                </a:solidFill>
                <a:latin typeface="Times New Roman" panose="02020603050405020304" pitchFamily="18" charset="0"/>
              </a:rPr>
              <a:t>II YEAR-3</a:t>
            </a:r>
            <a:r>
              <a:rPr lang="en-IN" sz="2000" baseline="30000" dirty="0">
                <a:solidFill>
                  <a:srgbClr val="000000"/>
                </a:solidFill>
                <a:latin typeface="Times New Roman" panose="02020603050405020304" pitchFamily="18" charset="0"/>
              </a:rPr>
              <a:t>rd</a:t>
            </a:r>
            <a:r>
              <a:rPr lang="en-IN" sz="2000" dirty="0">
                <a:solidFill>
                  <a:srgbClr val="000000"/>
                </a:solidFill>
                <a:latin typeface="Times New Roman" panose="02020603050405020304" pitchFamily="18" charset="0"/>
              </a:rPr>
              <a:t> Semester | BATCH-3</a:t>
            </a:r>
            <a:endParaRPr lang="en-IN" sz="2000" b="0" i="0" u="none" strike="noStrike" dirty="0">
              <a:solidFill>
                <a:srgbClr val="000000"/>
              </a:solidFill>
              <a:effectLst/>
              <a:latin typeface="Times New Roman" panose="02020603050405020304" pitchFamily="18" charset="0"/>
            </a:endParaRPr>
          </a:p>
          <a:p>
            <a:r>
              <a:rPr lang="en-US" dirty="0">
                <a:solidFill>
                  <a:srgbClr val="943735"/>
                </a:solidFill>
                <a:latin typeface="Times New Roman" panose="02020603050405020304" pitchFamily="18" charset="0"/>
                <a:cs typeface="Times New Roman" panose="02020603050405020304" pitchFamily="18" charset="0"/>
              </a:rPr>
              <a:t>Department</a:t>
            </a:r>
            <a:r>
              <a:rPr lang="en-US" spc="-60" dirty="0">
                <a:solidFill>
                  <a:srgbClr val="943735"/>
                </a:solidFill>
                <a:latin typeface="Times New Roman" panose="02020603050405020304" pitchFamily="18" charset="0"/>
                <a:cs typeface="Times New Roman" panose="02020603050405020304" pitchFamily="18" charset="0"/>
              </a:rPr>
              <a:t> </a:t>
            </a:r>
            <a:r>
              <a:rPr lang="en-US" dirty="0">
                <a:solidFill>
                  <a:srgbClr val="943735"/>
                </a:solidFill>
                <a:latin typeface="Times New Roman" panose="02020603050405020304" pitchFamily="18" charset="0"/>
                <a:cs typeface="Times New Roman" panose="02020603050405020304" pitchFamily="18" charset="0"/>
              </a:rPr>
              <a:t>of Artificial Intelligence &amp; Machine Learning</a:t>
            </a:r>
            <a:endParaRPr lang="en-US" spc="-10" dirty="0">
              <a:solidFill>
                <a:srgbClr val="943735"/>
              </a:solidFill>
              <a:latin typeface="Times New Roman" panose="02020603050405020304" pitchFamily="18" charset="0"/>
              <a:cs typeface="Times New Roman" panose="02020603050405020304" pitchFamily="18" charset="0"/>
            </a:endParaRPr>
          </a:p>
          <a:p>
            <a:endParaRPr lang="en-IN" sz="2800" b="0" i="0" u="none" strike="noStrike" dirty="0">
              <a:solidFill>
                <a:srgbClr val="000000"/>
              </a:solidFill>
              <a:effectLst/>
              <a:latin typeface="Times New Roman" panose="02020603050405020304" pitchFamily="18" charset="0"/>
            </a:endParaRPr>
          </a:p>
          <a:p>
            <a:endParaRPr lang="en-IN" sz="2800" dirty="0">
              <a:solidFill>
                <a:srgbClr val="FF0000"/>
              </a:solidFill>
            </a:endParaRPr>
          </a:p>
        </p:txBody>
      </p:sp>
      <p:sp>
        <p:nvSpPr>
          <p:cNvPr id="6" name="object 9">
            <a:extLst>
              <a:ext uri="{FF2B5EF4-FFF2-40B4-BE49-F238E27FC236}">
                <a16:creationId xmlns:a16="http://schemas.microsoft.com/office/drawing/2014/main" id="{56951395-B0B7-57F1-1388-0C8D32B176FF}"/>
              </a:ext>
            </a:extLst>
          </p:cNvPr>
          <p:cNvSpPr txBox="1">
            <a:spLocks/>
          </p:cNvSpPr>
          <p:nvPr/>
        </p:nvSpPr>
        <p:spPr>
          <a:xfrm>
            <a:off x="6326051" y="269784"/>
            <a:ext cx="2853690" cy="355225"/>
          </a:xfrm>
          <a:prstGeom prst="rect">
            <a:avLst/>
          </a:prstGeom>
        </p:spPr>
        <p:txBody>
          <a:bodyPr vert="horz" wrap="square" lIns="0" tIns="16510" rIns="0" bIns="0" rtlCol="0">
            <a:spAutoFit/>
          </a:bodyPr>
          <a:lstStyle>
            <a:defPPr>
              <a:defRPr kern="0"/>
            </a:defPPr>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pic>
        <p:nvPicPr>
          <p:cNvPr id="7" name="object 2">
            <a:extLst>
              <a:ext uri="{FF2B5EF4-FFF2-40B4-BE49-F238E27FC236}">
                <a16:creationId xmlns:a16="http://schemas.microsoft.com/office/drawing/2014/main" id="{28625C84-9F8A-62B7-F3CD-C537109DD68B}"/>
              </a:ext>
            </a:extLst>
          </p:cNvPr>
          <p:cNvPicPr/>
          <p:nvPr/>
        </p:nvPicPr>
        <p:blipFill>
          <a:blip r:embed="rId3" cstate="print"/>
          <a:stretch>
            <a:fillRect/>
          </a:stretch>
        </p:blipFill>
        <p:spPr>
          <a:xfrm>
            <a:off x="3426752" y="245037"/>
            <a:ext cx="4610910" cy="628649"/>
          </a:xfrm>
          <a:prstGeom prst="rect">
            <a:avLst/>
          </a:prstGeom>
        </p:spPr>
      </p:pic>
    </p:spTree>
    <p:extLst>
      <p:ext uri="{BB962C8B-B14F-4D97-AF65-F5344CB8AC3E}">
        <p14:creationId xmlns:p14="http://schemas.microsoft.com/office/powerpoint/2010/main" val="4123644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2274-4624-A8E2-0E9C-1F14615413CC}"/>
              </a:ext>
            </a:extLst>
          </p:cNvPr>
          <p:cNvSpPr>
            <a:spLocks noGrp="1"/>
          </p:cNvSpPr>
          <p:nvPr>
            <p:ph type="title"/>
          </p:nvPr>
        </p:nvSpPr>
        <p:spPr>
          <a:xfrm>
            <a:off x="838200" y="720928"/>
            <a:ext cx="5510981" cy="1313447"/>
          </a:xfrm>
        </p:spPr>
        <p:txBody>
          <a:bodyPr>
            <a:normAutofit/>
          </a:bodyPr>
          <a:lstStyle/>
          <a:p>
            <a:r>
              <a:rPr lang="en-IN" sz="2400" b="0" i="0" dirty="0">
                <a:solidFill>
                  <a:schemeClr val="accent1">
                    <a:lumMod val="75000"/>
                  </a:schemeClr>
                </a:solidFill>
                <a:effectLst/>
                <a:latin typeface="Elephant" panose="02020904090505020303" pitchFamily="18" charset="0"/>
              </a:rPr>
              <a:t>Project Overview</a:t>
            </a:r>
            <a:endParaRPr lang="en-IN" sz="2400" dirty="0">
              <a:solidFill>
                <a:schemeClr val="accent1">
                  <a:lumMod val="75000"/>
                </a:schemeClr>
              </a:solidFill>
              <a:latin typeface="Elephant" panose="02020904090505020303" pitchFamily="18" charset="0"/>
            </a:endParaRPr>
          </a:p>
        </p:txBody>
      </p:sp>
      <p:sp>
        <p:nvSpPr>
          <p:cNvPr id="3" name="Content Placeholder 2">
            <a:extLst>
              <a:ext uri="{FF2B5EF4-FFF2-40B4-BE49-F238E27FC236}">
                <a16:creationId xmlns:a16="http://schemas.microsoft.com/office/drawing/2014/main" id="{C2A907F8-1761-9EEB-C1E9-EB06877086BF}"/>
              </a:ext>
            </a:extLst>
          </p:cNvPr>
          <p:cNvSpPr>
            <a:spLocks noGrp="1"/>
          </p:cNvSpPr>
          <p:nvPr>
            <p:ph idx="1"/>
          </p:nvPr>
        </p:nvSpPr>
        <p:spPr>
          <a:xfrm>
            <a:off x="605528" y="4327485"/>
            <a:ext cx="10515600" cy="2490736"/>
          </a:xfrm>
        </p:spPr>
        <p:txBody>
          <a:bodyPr>
            <a:normAutofit lnSpcReduction="10000"/>
          </a:bodyPr>
          <a:lstStyle/>
          <a:p>
            <a:pPr marL="0" indent="0">
              <a:buNone/>
            </a:pPr>
            <a:r>
              <a:rPr lang="en-IN" b="0" i="0" dirty="0">
                <a:effectLst/>
                <a:sym typeface="Wingdings" panose="05000000000000000000" pitchFamily="2" charset="2"/>
              </a:rPr>
              <a:t></a:t>
            </a:r>
            <a:r>
              <a:rPr lang="en-IN" b="0" i="0" dirty="0">
                <a:effectLst/>
              </a:rPr>
              <a:t>Overview :</a:t>
            </a:r>
          </a:p>
          <a:p>
            <a:pPr marL="0" indent="0" algn="just">
              <a:buNone/>
            </a:pPr>
            <a:r>
              <a:rPr lang="en-IN" b="0" i="0" dirty="0">
                <a:effectLst/>
              </a:rPr>
              <a:t>A menu-driven C++ application designed to automate core banking operations. Built using Object-Oriented Programming principles, the system enables users to perform deposits, withdrawals, and balance checks through an interactive interface, eliminating manual effort and improving efficiency.</a:t>
            </a:r>
            <a:endParaRPr lang="en-IN" dirty="0"/>
          </a:p>
        </p:txBody>
      </p:sp>
      <p:grpSp>
        <p:nvGrpSpPr>
          <p:cNvPr id="4" name="object 3">
            <a:extLst>
              <a:ext uri="{FF2B5EF4-FFF2-40B4-BE49-F238E27FC236}">
                <a16:creationId xmlns:a16="http://schemas.microsoft.com/office/drawing/2014/main" id="{87802DCF-2B34-8A59-323E-7D74AAE46CEA}"/>
              </a:ext>
            </a:extLst>
          </p:cNvPr>
          <p:cNvGrpSpPr/>
          <p:nvPr/>
        </p:nvGrpSpPr>
        <p:grpSpPr>
          <a:xfrm>
            <a:off x="3845741" y="39779"/>
            <a:ext cx="5334000" cy="1198311"/>
            <a:chOff x="2648188" y="47148"/>
            <a:chExt cx="5103904" cy="1198311"/>
          </a:xfrm>
        </p:grpSpPr>
        <p:pic>
          <p:nvPicPr>
            <p:cNvPr id="5" name="object 4">
              <a:extLst>
                <a:ext uri="{FF2B5EF4-FFF2-40B4-BE49-F238E27FC236}">
                  <a16:creationId xmlns:a16="http://schemas.microsoft.com/office/drawing/2014/main" id="{1F6F79AC-7157-E788-5A8D-73A3A5A78F5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58E183B-891F-3581-99C0-F2BD74D4BEB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97FAA21-C832-9170-E3E3-D1328DBF0429}"/>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C38366B-B404-0263-7DCD-B2F39C6596F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pic>
        <p:nvPicPr>
          <p:cNvPr id="9" name="object 3">
            <a:extLst>
              <a:ext uri="{FF2B5EF4-FFF2-40B4-BE49-F238E27FC236}">
                <a16:creationId xmlns:a16="http://schemas.microsoft.com/office/drawing/2014/main" id="{AD644987-8513-99EA-27A9-087A78344FB3}"/>
              </a:ext>
            </a:extLst>
          </p:cNvPr>
          <p:cNvPicPr/>
          <p:nvPr/>
        </p:nvPicPr>
        <p:blipFill>
          <a:blip r:embed="rId5" cstate="print"/>
          <a:stretch>
            <a:fillRect/>
          </a:stretch>
        </p:blipFill>
        <p:spPr>
          <a:xfrm>
            <a:off x="605528" y="242973"/>
            <a:ext cx="1163002" cy="424338"/>
          </a:xfrm>
          <a:prstGeom prst="rect">
            <a:avLst/>
          </a:prstGeom>
        </p:spPr>
      </p:pic>
      <p:sp>
        <p:nvSpPr>
          <p:cNvPr id="11" name="object 9">
            <a:extLst>
              <a:ext uri="{FF2B5EF4-FFF2-40B4-BE49-F238E27FC236}">
                <a16:creationId xmlns:a16="http://schemas.microsoft.com/office/drawing/2014/main" id="{9DC018D0-C894-AAA6-BDD8-AA92F51E7D9D}"/>
              </a:ext>
            </a:extLst>
          </p:cNvPr>
          <p:cNvSpPr txBox="1">
            <a:spLocks/>
          </p:cNvSpPr>
          <p:nvPr/>
        </p:nvSpPr>
        <p:spPr>
          <a:xfrm>
            <a:off x="3274142" y="269784"/>
            <a:ext cx="5905599" cy="355225"/>
          </a:xfrm>
          <a:prstGeom prst="rect">
            <a:avLst/>
          </a:prstGeom>
        </p:spPr>
        <p:txBody>
          <a:bodyPr vert="horz" wrap="square" lIns="0" tIns="16510" rIns="0" bIns="0" rtlCol="0">
            <a:spAutoFit/>
          </a:bodyPr>
          <a:lstStyle>
            <a:defPPr>
              <a:defRPr kern="0"/>
            </a:defPPr>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a:t>
            </a:r>
          </a:p>
        </p:txBody>
      </p:sp>
      <p:sp>
        <p:nvSpPr>
          <p:cNvPr id="13" name="TextBox 12">
            <a:extLst>
              <a:ext uri="{FF2B5EF4-FFF2-40B4-BE49-F238E27FC236}">
                <a16:creationId xmlns:a16="http://schemas.microsoft.com/office/drawing/2014/main" id="{57098828-021D-6F52-17B1-5A981BCD2926}"/>
              </a:ext>
            </a:extLst>
          </p:cNvPr>
          <p:cNvSpPr txBox="1"/>
          <p:nvPr/>
        </p:nvSpPr>
        <p:spPr>
          <a:xfrm>
            <a:off x="605528" y="1705201"/>
            <a:ext cx="10203426" cy="461665"/>
          </a:xfrm>
          <a:prstGeom prst="rect">
            <a:avLst/>
          </a:prstGeom>
          <a:noFill/>
        </p:spPr>
        <p:txBody>
          <a:bodyPr wrap="square" rtlCol="0">
            <a:spAutoFit/>
          </a:bodyPr>
          <a:lstStyle/>
          <a:p>
            <a:r>
              <a:rPr lang="en-IN" sz="2400" b="0" i="0" dirty="0">
                <a:effectLst/>
                <a:latin typeface="Calibri (Body)"/>
                <a:sym typeface="Wingdings" panose="05000000000000000000" pitchFamily="2" charset="2"/>
              </a:rPr>
              <a:t></a:t>
            </a:r>
            <a:r>
              <a:rPr lang="en-IN" sz="2400" b="0" i="0" dirty="0">
                <a:effectLst/>
                <a:latin typeface="Calibri (Body)"/>
              </a:rPr>
              <a:t>Problem Statement </a:t>
            </a:r>
            <a:r>
              <a:rPr lang="en-IN" sz="2400" b="0" i="0" dirty="0">
                <a:effectLst/>
                <a:latin typeface="Elephant" panose="02020904090505020303" pitchFamily="18" charset="0"/>
              </a:rPr>
              <a:t>:</a:t>
            </a:r>
            <a:endParaRPr lang="en-IN" sz="2400" dirty="0">
              <a:latin typeface="Elephant" panose="02020904090505020303" pitchFamily="18" charset="0"/>
            </a:endParaRPr>
          </a:p>
        </p:txBody>
      </p:sp>
      <p:sp>
        <p:nvSpPr>
          <p:cNvPr id="14" name="TextBox 13">
            <a:extLst>
              <a:ext uri="{FF2B5EF4-FFF2-40B4-BE49-F238E27FC236}">
                <a16:creationId xmlns:a16="http://schemas.microsoft.com/office/drawing/2014/main" id="{BCE2AEE2-EFDF-44BD-2DA7-BC01C7F0C4E4}"/>
              </a:ext>
            </a:extLst>
          </p:cNvPr>
          <p:cNvSpPr txBox="1"/>
          <p:nvPr/>
        </p:nvSpPr>
        <p:spPr>
          <a:xfrm>
            <a:off x="907026" y="2137576"/>
            <a:ext cx="10116165" cy="2246769"/>
          </a:xfrm>
          <a:prstGeom prst="rect">
            <a:avLst/>
          </a:prstGeom>
          <a:noFill/>
        </p:spPr>
        <p:txBody>
          <a:bodyPr wrap="square" rtlCol="0">
            <a:spAutoFit/>
          </a:bodyPr>
          <a:lstStyle/>
          <a:p>
            <a:pPr algn="just"/>
            <a:r>
              <a:rPr lang="en-IN" sz="2800" b="0" i="0" dirty="0">
                <a:effectLst/>
              </a:rPr>
              <a:t>Manual banking processes are time-consuming and prone to human error. Maintaining accurate transaction records is difficult without automation. Retrieving past transaction data is challenging in manual systems, leading to inefficiencies and potential discrepancies in account management.</a:t>
            </a:r>
            <a:endParaRPr lang="en-IN" sz="2800" dirty="0"/>
          </a:p>
        </p:txBody>
      </p:sp>
    </p:spTree>
    <p:extLst>
      <p:ext uri="{BB962C8B-B14F-4D97-AF65-F5344CB8AC3E}">
        <p14:creationId xmlns:p14="http://schemas.microsoft.com/office/powerpoint/2010/main" val="2353229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45B49-A04A-9EFD-55E5-24839B3C601D}"/>
              </a:ext>
            </a:extLst>
          </p:cNvPr>
          <p:cNvSpPr>
            <a:spLocks noGrp="1"/>
          </p:cNvSpPr>
          <p:nvPr>
            <p:ph type="title"/>
          </p:nvPr>
        </p:nvSpPr>
        <p:spPr/>
        <p:txBody>
          <a:bodyPr>
            <a:normAutofit/>
          </a:bodyPr>
          <a:lstStyle/>
          <a:p>
            <a:r>
              <a:rPr lang="en-IN" sz="2400" b="0" i="0" dirty="0">
                <a:solidFill>
                  <a:schemeClr val="accent1">
                    <a:lumMod val="75000"/>
                  </a:schemeClr>
                </a:solidFill>
                <a:effectLst/>
                <a:latin typeface="Elephant" panose="02020904090505020303" pitchFamily="18" charset="0"/>
              </a:rPr>
              <a:t>Project Objectives &amp; Benefits</a:t>
            </a:r>
            <a:endParaRPr lang="en-IN" sz="2400" dirty="0">
              <a:solidFill>
                <a:schemeClr val="accent1">
                  <a:lumMod val="75000"/>
                </a:schemeClr>
              </a:solidFill>
              <a:latin typeface="Elephant" panose="02020904090505020303" pitchFamily="18" charset="0"/>
            </a:endParaRPr>
          </a:p>
        </p:txBody>
      </p:sp>
      <p:sp>
        <p:nvSpPr>
          <p:cNvPr id="3" name="Content Placeholder 2">
            <a:extLst>
              <a:ext uri="{FF2B5EF4-FFF2-40B4-BE49-F238E27FC236}">
                <a16:creationId xmlns:a16="http://schemas.microsoft.com/office/drawing/2014/main" id="{214F60BD-1D16-1A76-9002-6F99200CD11F}"/>
              </a:ext>
            </a:extLst>
          </p:cNvPr>
          <p:cNvSpPr>
            <a:spLocks noGrp="1"/>
          </p:cNvSpPr>
          <p:nvPr>
            <p:ph idx="1"/>
          </p:nvPr>
        </p:nvSpPr>
        <p:spPr>
          <a:xfrm>
            <a:off x="838200" y="1825625"/>
            <a:ext cx="5257800" cy="4351338"/>
          </a:xfrm>
        </p:spPr>
        <p:txBody>
          <a:bodyPr>
            <a:normAutofit/>
          </a:bodyPr>
          <a:lstStyle/>
          <a:p>
            <a:r>
              <a:rPr lang="en-IN" b="0" i="0" dirty="0">
                <a:solidFill>
                  <a:srgbClr val="FF0000"/>
                </a:solidFill>
                <a:effectLst/>
              </a:rPr>
              <a:t>Objectives:</a:t>
            </a:r>
          </a:p>
          <a:p>
            <a:pPr marL="0" indent="0">
              <a:buNone/>
            </a:pPr>
            <a:r>
              <a:rPr lang="en-IN" dirty="0"/>
              <a:t>Automate banking operations including deposit, </a:t>
            </a:r>
            <a:r>
              <a:rPr lang="en-IN" dirty="0" err="1"/>
              <a:t>withdrawal,balance</a:t>
            </a:r>
            <a:r>
              <a:rPr lang="en-IN" dirty="0"/>
              <a:t> check and stores the records.</a:t>
            </a:r>
          </a:p>
          <a:p>
            <a:pPr marL="0" indent="0">
              <a:buNone/>
            </a:pPr>
            <a:r>
              <a:rPr lang="en-IN" dirty="0"/>
              <a:t>Provide an efficient and user-friendly transaction management interface</a:t>
            </a:r>
          </a:p>
          <a:p>
            <a:pPr marL="0" indent="0">
              <a:buNone/>
            </a:pPr>
            <a:r>
              <a:rPr lang="en-IN" dirty="0"/>
              <a:t>Ensure accuracy, speed, and reliability in all banking operations</a:t>
            </a:r>
          </a:p>
          <a:p>
            <a:pPr marL="0" indent="0">
              <a:buNone/>
            </a:pPr>
            <a:endParaRPr lang="en-IN" b="0" i="0" dirty="0">
              <a:effectLst/>
            </a:endParaRPr>
          </a:p>
          <a:p>
            <a:endParaRPr lang="en-IN" dirty="0"/>
          </a:p>
          <a:p>
            <a:endParaRPr lang="en-IN" dirty="0"/>
          </a:p>
          <a:p>
            <a:endParaRPr lang="en-IN" dirty="0"/>
          </a:p>
          <a:p>
            <a:endParaRPr lang="en-IN" dirty="0"/>
          </a:p>
          <a:p>
            <a:endParaRPr lang="en-IN" dirty="0"/>
          </a:p>
          <a:p>
            <a:endParaRPr lang="en-IN" dirty="0"/>
          </a:p>
        </p:txBody>
      </p:sp>
      <p:pic>
        <p:nvPicPr>
          <p:cNvPr id="9" name="object 3">
            <a:extLst>
              <a:ext uri="{FF2B5EF4-FFF2-40B4-BE49-F238E27FC236}">
                <a16:creationId xmlns:a16="http://schemas.microsoft.com/office/drawing/2014/main" id="{CA6C1D98-223C-4A6D-17B3-976229558EB0}"/>
              </a:ext>
            </a:extLst>
          </p:cNvPr>
          <p:cNvPicPr/>
          <p:nvPr/>
        </p:nvPicPr>
        <p:blipFill>
          <a:blip r:embed="rId2" cstate="print"/>
          <a:stretch>
            <a:fillRect/>
          </a:stretch>
        </p:blipFill>
        <p:spPr>
          <a:xfrm>
            <a:off x="448212" y="152956"/>
            <a:ext cx="1163002" cy="424338"/>
          </a:xfrm>
          <a:prstGeom prst="rect">
            <a:avLst/>
          </a:prstGeom>
        </p:spPr>
      </p:pic>
      <p:sp>
        <p:nvSpPr>
          <p:cNvPr id="11" name="object 9">
            <a:extLst>
              <a:ext uri="{FF2B5EF4-FFF2-40B4-BE49-F238E27FC236}">
                <a16:creationId xmlns:a16="http://schemas.microsoft.com/office/drawing/2014/main" id="{8467D436-9305-3A18-40D2-79FD241A22F3}"/>
              </a:ext>
            </a:extLst>
          </p:cNvPr>
          <p:cNvSpPr txBox="1">
            <a:spLocks/>
          </p:cNvSpPr>
          <p:nvPr/>
        </p:nvSpPr>
        <p:spPr>
          <a:xfrm>
            <a:off x="3274142" y="269784"/>
            <a:ext cx="5905599" cy="355225"/>
          </a:xfrm>
          <a:prstGeom prst="rect">
            <a:avLst/>
          </a:prstGeom>
        </p:spPr>
        <p:txBody>
          <a:bodyPr vert="horz" wrap="square" lIns="0" tIns="16510" rIns="0" bIns="0" rtlCol="0">
            <a:spAutoFit/>
          </a:bodyPr>
          <a:lstStyle>
            <a:defPPr>
              <a:defRPr kern="0"/>
            </a:defPPr>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grpSp>
        <p:nvGrpSpPr>
          <p:cNvPr id="12" name="object 3">
            <a:extLst>
              <a:ext uri="{FF2B5EF4-FFF2-40B4-BE49-F238E27FC236}">
                <a16:creationId xmlns:a16="http://schemas.microsoft.com/office/drawing/2014/main" id="{AC634133-A5EB-F3AB-6CF8-769CE17DC0D3}"/>
              </a:ext>
            </a:extLst>
          </p:cNvPr>
          <p:cNvGrpSpPr/>
          <p:nvPr/>
        </p:nvGrpSpPr>
        <p:grpSpPr>
          <a:xfrm>
            <a:off x="3845741" y="39779"/>
            <a:ext cx="5334000" cy="1198311"/>
            <a:chOff x="2648188" y="47148"/>
            <a:chExt cx="5103904" cy="1198311"/>
          </a:xfrm>
        </p:grpSpPr>
        <p:pic>
          <p:nvPicPr>
            <p:cNvPr id="13" name="object 4">
              <a:extLst>
                <a:ext uri="{FF2B5EF4-FFF2-40B4-BE49-F238E27FC236}">
                  <a16:creationId xmlns:a16="http://schemas.microsoft.com/office/drawing/2014/main" id="{47AEDDC5-0C44-F2EA-4240-92CD427E8F4A}"/>
                </a:ext>
              </a:extLst>
            </p:cNvPr>
            <p:cNvPicPr/>
            <p:nvPr/>
          </p:nvPicPr>
          <p:blipFill>
            <a:blip r:embed="rId3" cstate="print"/>
            <a:stretch>
              <a:fillRect/>
            </a:stretch>
          </p:blipFill>
          <p:spPr>
            <a:xfrm>
              <a:off x="2648188" y="47148"/>
              <a:ext cx="5103904" cy="1198311"/>
            </a:xfrm>
            <a:prstGeom prst="rect">
              <a:avLst/>
            </a:prstGeom>
          </p:spPr>
        </p:pic>
        <p:pic>
          <p:nvPicPr>
            <p:cNvPr id="14" name="object 5">
              <a:extLst>
                <a:ext uri="{FF2B5EF4-FFF2-40B4-BE49-F238E27FC236}">
                  <a16:creationId xmlns:a16="http://schemas.microsoft.com/office/drawing/2014/main" id="{5F22C1FA-8518-8064-B868-1C90FCE3C994}"/>
                </a:ext>
              </a:extLst>
            </p:cNvPr>
            <p:cNvPicPr/>
            <p:nvPr/>
          </p:nvPicPr>
          <p:blipFill>
            <a:blip r:embed="rId4" cstate="print"/>
            <a:stretch>
              <a:fillRect/>
            </a:stretch>
          </p:blipFill>
          <p:spPr>
            <a:xfrm>
              <a:off x="2703195" y="86439"/>
              <a:ext cx="4997767" cy="1092279"/>
            </a:xfrm>
            <a:prstGeom prst="rect">
              <a:avLst/>
            </a:prstGeom>
          </p:spPr>
        </p:pic>
        <p:pic>
          <p:nvPicPr>
            <p:cNvPr id="15" name="object 6">
              <a:extLst>
                <a:ext uri="{FF2B5EF4-FFF2-40B4-BE49-F238E27FC236}">
                  <a16:creationId xmlns:a16="http://schemas.microsoft.com/office/drawing/2014/main" id="{B53FF8B1-32AF-2294-8ABE-EC726970DFA8}"/>
                </a:ext>
              </a:extLst>
            </p:cNvPr>
            <p:cNvPicPr/>
            <p:nvPr/>
          </p:nvPicPr>
          <p:blipFill>
            <a:blip r:embed="rId5" cstate="print"/>
            <a:stretch>
              <a:fillRect/>
            </a:stretch>
          </p:blipFill>
          <p:spPr>
            <a:xfrm>
              <a:off x="2828925" y="243549"/>
              <a:ext cx="4585268" cy="522565"/>
            </a:xfrm>
            <a:prstGeom prst="rect">
              <a:avLst/>
            </a:prstGeom>
          </p:spPr>
        </p:pic>
        <p:sp>
          <p:nvSpPr>
            <p:cNvPr id="16" name="object 7">
              <a:extLst>
                <a:ext uri="{FF2B5EF4-FFF2-40B4-BE49-F238E27FC236}">
                  <a16:creationId xmlns:a16="http://schemas.microsoft.com/office/drawing/2014/main" id="{1FF1E7B3-BD19-1BD7-7855-AF2016B15A38}"/>
                </a:ext>
              </a:extLst>
            </p:cNvPr>
            <p:cNvSpPr/>
            <p:nvPr/>
          </p:nvSpPr>
          <p:spPr>
            <a:xfrm>
              <a:off x="2881913" y="303993"/>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r>
                <a:rPr lang="en-IN" b="1" dirty="0">
                  <a:solidFill>
                    <a:schemeClr val="bg1"/>
                  </a:solidFill>
                  <a:latin typeface="Times New Roman" panose="02020603050405020304" pitchFamily="18" charset="0"/>
                  <a:cs typeface="Times New Roman" panose="02020603050405020304" pitchFamily="18" charset="0"/>
                </a:rPr>
                <a:t>                   Presentation Outline</a:t>
              </a:r>
            </a:p>
            <a:p>
              <a:endParaRPr dirty="0"/>
            </a:p>
          </p:txBody>
        </p:sp>
      </p:grpSp>
      <p:sp>
        <p:nvSpPr>
          <p:cNvPr id="17" name="TextBox 16">
            <a:extLst>
              <a:ext uri="{FF2B5EF4-FFF2-40B4-BE49-F238E27FC236}">
                <a16:creationId xmlns:a16="http://schemas.microsoft.com/office/drawing/2014/main" id="{7DF75BD0-681C-CC5D-FF7A-10A54EC67EB7}"/>
              </a:ext>
            </a:extLst>
          </p:cNvPr>
          <p:cNvSpPr txBox="1"/>
          <p:nvPr/>
        </p:nvSpPr>
        <p:spPr>
          <a:xfrm>
            <a:off x="6595728" y="1831368"/>
            <a:ext cx="5061155" cy="523220"/>
          </a:xfrm>
          <a:prstGeom prst="rect">
            <a:avLst/>
          </a:prstGeom>
          <a:noFill/>
        </p:spPr>
        <p:txBody>
          <a:bodyPr wrap="square" rtlCol="0">
            <a:spAutoFit/>
          </a:bodyPr>
          <a:lstStyle/>
          <a:p>
            <a:r>
              <a:rPr lang="en-IN" sz="2800" b="0" i="0" dirty="0">
                <a:solidFill>
                  <a:srgbClr val="FF0000"/>
                </a:solidFill>
                <a:effectLst/>
              </a:rPr>
              <a:t>Benefits:</a:t>
            </a:r>
            <a:endParaRPr lang="en-IN" sz="2800" dirty="0">
              <a:solidFill>
                <a:srgbClr val="FF0000"/>
              </a:solidFill>
            </a:endParaRPr>
          </a:p>
        </p:txBody>
      </p:sp>
      <p:sp>
        <p:nvSpPr>
          <p:cNvPr id="18" name="TextBox 17">
            <a:extLst>
              <a:ext uri="{FF2B5EF4-FFF2-40B4-BE49-F238E27FC236}">
                <a16:creationId xmlns:a16="http://schemas.microsoft.com/office/drawing/2014/main" id="{9DAC75A2-3387-3010-588D-AEBE9A328ADF}"/>
              </a:ext>
            </a:extLst>
          </p:cNvPr>
          <p:cNvSpPr txBox="1"/>
          <p:nvPr/>
        </p:nvSpPr>
        <p:spPr>
          <a:xfrm>
            <a:off x="6282578" y="2327396"/>
            <a:ext cx="5399627" cy="3693319"/>
          </a:xfrm>
          <a:prstGeom prst="rect">
            <a:avLst/>
          </a:prstGeom>
          <a:noFill/>
        </p:spPr>
        <p:txBody>
          <a:bodyPr wrap="square" rtlCol="0">
            <a:spAutoFit/>
          </a:bodyPr>
          <a:lstStyle/>
          <a:p>
            <a:pPr algn="just"/>
            <a:r>
              <a:rPr lang="en-IN" sz="2400" dirty="0"/>
              <a:t>Gain practical grasp of Object-Oriented Programming concepts in C++</a:t>
            </a:r>
          </a:p>
          <a:p>
            <a:r>
              <a:rPr lang="en-IN" sz="2400" dirty="0"/>
              <a:t>Acquire experience with software design and structured data handling</a:t>
            </a:r>
          </a:p>
          <a:p>
            <a:r>
              <a:rPr lang="en-IN" sz="2400" dirty="0"/>
              <a:t>Develop real-life application of programming skills in a banking context</a:t>
            </a:r>
          </a:p>
          <a:p>
            <a:r>
              <a:rPr lang="en-IN" sz="2400" dirty="0"/>
              <a:t>Strengthen understanding of encapsulation, classes, and member functions</a:t>
            </a:r>
          </a:p>
          <a:p>
            <a:endParaRPr lang="en-IN" dirty="0"/>
          </a:p>
        </p:txBody>
      </p:sp>
    </p:spTree>
    <p:extLst>
      <p:ext uri="{BB962C8B-B14F-4D97-AF65-F5344CB8AC3E}">
        <p14:creationId xmlns:p14="http://schemas.microsoft.com/office/powerpoint/2010/main" val="3881426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E467-AC38-23AF-4586-A62806537062}"/>
              </a:ext>
            </a:extLst>
          </p:cNvPr>
          <p:cNvSpPr>
            <a:spLocks noGrp="1"/>
          </p:cNvSpPr>
          <p:nvPr>
            <p:ph type="title"/>
          </p:nvPr>
        </p:nvSpPr>
        <p:spPr/>
        <p:txBody>
          <a:bodyPr>
            <a:normAutofit/>
          </a:bodyPr>
          <a:lstStyle/>
          <a:p>
            <a:r>
              <a:rPr lang="en-IN" sz="2800" b="0" i="0" dirty="0">
                <a:solidFill>
                  <a:schemeClr val="accent1">
                    <a:lumMod val="75000"/>
                  </a:schemeClr>
                </a:solidFill>
                <a:effectLst/>
                <a:latin typeface="Elephant" panose="02020904090505020303" pitchFamily="18" charset="0"/>
              </a:rPr>
              <a:t>Planned Modules &amp; Functions</a:t>
            </a:r>
            <a:endParaRPr lang="en-IN" sz="2800" dirty="0">
              <a:solidFill>
                <a:schemeClr val="accent1">
                  <a:lumMod val="75000"/>
                </a:schemeClr>
              </a:solidFill>
              <a:latin typeface="Elephant" panose="02020904090505020303" pitchFamily="18" charset="0"/>
            </a:endParaRPr>
          </a:p>
        </p:txBody>
      </p:sp>
      <p:sp>
        <p:nvSpPr>
          <p:cNvPr id="3" name="Content Placeholder 2">
            <a:extLst>
              <a:ext uri="{FF2B5EF4-FFF2-40B4-BE49-F238E27FC236}">
                <a16:creationId xmlns:a16="http://schemas.microsoft.com/office/drawing/2014/main" id="{5BD74528-2DE3-AF11-A011-13AD9272C224}"/>
              </a:ext>
            </a:extLst>
          </p:cNvPr>
          <p:cNvSpPr>
            <a:spLocks noGrp="1"/>
          </p:cNvSpPr>
          <p:nvPr>
            <p:ph idx="1"/>
          </p:nvPr>
        </p:nvSpPr>
        <p:spPr>
          <a:xfrm>
            <a:off x="741352" y="1171349"/>
            <a:ext cx="10515600" cy="4351338"/>
          </a:xfrm>
        </p:spPr>
        <p:txBody>
          <a:bodyPr>
            <a:normAutofit fontScale="55000" lnSpcReduction="20000"/>
          </a:bodyPr>
          <a:lstStyle/>
          <a:p>
            <a:endParaRPr lang="en-IN" dirty="0"/>
          </a:p>
          <a:p>
            <a:pPr marL="0" indent="0">
              <a:buNone/>
            </a:pPr>
            <a:r>
              <a:rPr lang="en-IN" dirty="0"/>
              <a:t> Deposit Money Operation: Allows users to add funds to their account and updates the balance instantly with a confirmation message.</a:t>
            </a:r>
          </a:p>
          <a:p>
            <a:pPr marL="0" indent="0">
              <a:buNone/>
            </a:pPr>
            <a:endParaRPr lang="en-IN" dirty="0"/>
          </a:p>
          <a:p>
            <a:pPr marL="0" indent="0">
              <a:buNone/>
            </a:pPr>
            <a:r>
              <a:rPr lang="en-IN" dirty="0"/>
              <a:t> Withdraw Money Operation: Processes withdrawals only after verifying sufficient balance; displays an error for insufficient funds.</a:t>
            </a:r>
          </a:p>
          <a:p>
            <a:pPr marL="0" indent="0">
              <a:buNone/>
            </a:pPr>
            <a:endParaRPr lang="en-IN" dirty="0"/>
          </a:p>
          <a:p>
            <a:pPr marL="0" indent="0">
              <a:buNone/>
            </a:pPr>
            <a:r>
              <a:rPr lang="en-IN" dirty="0"/>
              <a:t> Check Account Balance: Retrieves and displays the current account balance at any point during the session. </a:t>
            </a:r>
          </a:p>
          <a:p>
            <a:pPr marL="0" indent="0">
              <a:buNone/>
            </a:pPr>
            <a:endParaRPr lang="en-IN" dirty="0"/>
          </a:p>
          <a:p>
            <a:pPr marL="0" indent="0">
              <a:buNone/>
            </a:pPr>
            <a:r>
              <a:rPr lang="en-IN" dirty="0"/>
              <a:t>  Records : displays the transactions  done.</a:t>
            </a:r>
          </a:p>
          <a:p>
            <a:pPr marL="0" indent="0">
              <a:buNone/>
            </a:pPr>
            <a:endParaRPr lang="en-IN" dirty="0"/>
          </a:p>
          <a:p>
            <a:pPr marL="0" indent="0">
              <a:buNone/>
            </a:pPr>
            <a:r>
              <a:rPr lang="en-IN" dirty="0"/>
              <a:t>Interactive Menu-Driven Interface: Guides the user step-by-step through all available banking operations in a structured loop.</a:t>
            </a:r>
          </a:p>
          <a:p>
            <a:pPr marL="0" indent="0">
              <a:buNone/>
            </a:pPr>
            <a:endParaRPr lang="en-IN" dirty="0"/>
          </a:p>
          <a:p>
            <a:pPr marL="0" indent="0">
              <a:buNone/>
            </a:pPr>
            <a:r>
              <a:rPr lang="en-IN" dirty="0"/>
              <a:t>Input Validation: Ensures all user inputs are verified before processing, preventing invalid entries and runtime errors.</a:t>
            </a:r>
          </a:p>
          <a:p>
            <a:pPr marL="0" indent="0">
              <a:buNone/>
            </a:pPr>
            <a:endParaRPr lang="en-IN" dirty="0"/>
          </a:p>
        </p:txBody>
      </p:sp>
      <p:grpSp>
        <p:nvGrpSpPr>
          <p:cNvPr id="4" name="object 3">
            <a:extLst>
              <a:ext uri="{FF2B5EF4-FFF2-40B4-BE49-F238E27FC236}">
                <a16:creationId xmlns:a16="http://schemas.microsoft.com/office/drawing/2014/main" id="{2FD82294-7337-7CAC-9913-1DE54B8BD49D}"/>
              </a:ext>
            </a:extLst>
          </p:cNvPr>
          <p:cNvGrpSpPr/>
          <p:nvPr/>
        </p:nvGrpSpPr>
        <p:grpSpPr>
          <a:xfrm>
            <a:off x="3845741" y="39779"/>
            <a:ext cx="5334000" cy="1198311"/>
            <a:chOff x="2648188" y="47148"/>
            <a:chExt cx="5103904" cy="1198311"/>
          </a:xfrm>
        </p:grpSpPr>
        <p:pic>
          <p:nvPicPr>
            <p:cNvPr id="5" name="object 4">
              <a:extLst>
                <a:ext uri="{FF2B5EF4-FFF2-40B4-BE49-F238E27FC236}">
                  <a16:creationId xmlns:a16="http://schemas.microsoft.com/office/drawing/2014/main" id="{76835F27-C352-2CED-2796-809FFBAFFC6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8B91182D-0EEE-ABB5-5358-17B62978EF7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F98A5A79-30A1-5245-76C8-1FF543A99F3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B443DD3-6F43-FFA6-34A1-7D769443FB0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pic>
        <p:nvPicPr>
          <p:cNvPr id="9" name="object 3">
            <a:extLst>
              <a:ext uri="{FF2B5EF4-FFF2-40B4-BE49-F238E27FC236}">
                <a16:creationId xmlns:a16="http://schemas.microsoft.com/office/drawing/2014/main" id="{88A75EDB-5369-FDFF-C79D-CEC207E4E78A}"/>
              </a:ext>
            </a:extLst>
          </p:cNvPr>
          <p:cNvPicPr/>
          <p:nvPr/>
        </p:nvPicPr>
        <p:blipFill>
          <a:blip r:embed="rId5" cstate="print"/>
          <a:stretch>
            <a:fillRect/>
          </a:stretch>
        </p:blipFill>
        <p:spPr>
          <a:xfrm>
            <a:off x="605528" y="242973"/>
            <a:ext cx="1163002" cy="424338"/>
          </a:xfrm>
          <a:prstGeom prst="rect">
            <a:avLst/>
          </a:prstGeom>
        </p:spPr>
      </p:pic>
      <p:sp>
        <p:nvSpPr>
          <p:cNvPr id="13" name="TextBox 12">
            <a:extLst>
              <a:ext uri="{FF2B5EF4-FFF2-40B4-BE49-F238E27FC236}">
                <a16:creationId xmlns:a16="http://schemas.microsoft.com/office/drawing/2014/main" id="{63128ADD-8116-2AE5-CE08-1012D786AF57}"/>
              </a:ext>
            </a:extLst>
          </p:cNvPr>
          <p:cNvSpPr txBox="1"/>
          <p:nvPr/>
        </p:nvSpPr>
        <p:spPr>
          <a:xfrm>
            <a:off x="5160952" y="275523"/>
            <a:ext cx="60960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 Presentation </a:t>
            </a:r>
            <a:endParaRPr lang="en-IN" dirty="0"/>
          </a:p>
        </p:txBody>
      </p:sp>
    </p:spTree>
    <p:extLst>
      <p:ext uri="{BB962C8B-B14F-4D97-AF65-F5344CB8AC3E}">
        <p14:creationId xmlns:p14="http://schemas.microsoft.com/office/powerpoint/2010/main" val="69549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99026-F722-2523-FA3B-7E6CAF553EA0}"/>
              </a:ext>
            </a:extLst>
          </p:cNvPr>
          <p:cNvSpPr>
            <a:spLocks noGrp="1"/>
          </p:cNvSpPr>
          <p:nvPr>
            <p:ph type="title"/>
          </p:nvPr>
        </p:nvSpPr>
        <p:spPr/>
        <p:txBody>
          <a:bodyPr/>
          <a:lstStyle/>
          <a:p>
            <a:r>
              <a:rPr lang="en-IN" b="0" i="0" dirty="0">
                <a:effectLst/>
              </a:rPr>
              <a:t>                 Inputs &amp; Expected Outputs</a:t>
            </a:r>
            <a:endParaRPr lang="en-IN" dirty="0"/>
          </a:p>
        </p:txBody>
      </p:sp>
      <p:sp>
        <p:nvSpPr>
          <p:cNvPr id="3" name="Text Placeholder 2">
            <a:extLst>
              <a:ext uri="{FF2B5EF4-FFF2-40B4-BE49-F238E27FC236}">
                <a16:creationId xmlns:a16="http://schemas.microsoft.com/office/drawing/2014/main" id="{5BBC1CF2-EB93-BC32-7D89-F4C163224590}"/>
              </a:ext>
            </a:extLst>
          </p:cNvPr>
          <p:cNvSpPr>
            <a:spLocks noGrp="1"/>
          </p:cNvSpPr>
          <p:nvPr>
            <p:ph type="body" idx="1"/>
          </p:nvPr>
        </p:nvSpPr>
        <p:spPr/>
        <p:txBody>
          <a:bodyPr>
            <a:normAutofit/>
          </a:bodyPr>
          <a:lstStyle/>
          <a:p>
            <a:r>
              <a:rPr lang="en-IN" sz="3600" b="0" i="0" dirty="0">
                <a:solidFill>
                  <a:srgbClr val="FF0000"/>
                </a:solidFill>
                <a:effectLst/>
              </a:rPr>
              <a:t>Inputs</a:t>
            </a:r>
            <a:endParaRPr lang="en-IN" sz="3600" dirty="0">
              <a:solidFill>
                <a:srgbClr val="FF0000"/>
              </a:solidFill>
            </a:endParaRPr>
          </a:p>
        </p:txBody>
      </p:sp>
      <p:sp>
        <p:nvSpPr>
          <p:cNvPr id="4" name="Content Placeholder 3">
            <a:extLst>
              <a:ext uri="{FF2B5EF4-FFF2-40B4-BE49-F238E27FC236}">
                <a16:creationId xmlns:a16="http://schemas.microsoft.com/office/drawing/2014/main" id="{533BDE22-DE09-2CBE-4B95-02145A7DBE52}"/>
              </a:ext>
            </a:extLst>
          </p:cNvPr>
          <p:cNvSpPr>
            <a:spLocks noGrp="1"/>
          </p:cNvSpPr>
          <p:nvPr>
            <p:ph sz="half" idx="2"/>
          </p:nvPr>
        </p:nvSpPr>
        <p:spPr/>
        <p:txBody>
          <a:bodyPr>
            <a:normAutofit lnSpcReduction="10000"/>
          </a:bodyPr>
          <a:lstStyle/>
          <a:p>
            <a:pPr marL="0" indent="0">
              <a:buNone/>
            </a:pPr>
            <a:r>
              <a:rPr lang="en-IN" dirty="0"/>
              <a:t>Menu selection by the user to choose a banking operation</a:t>
            </a:r>
          </a:p>
          <a:p>
            <a:pPr marL="0" indent="0">
              <a:buNone/>
            </a:pPr>
            <a:r>
              <a:rPr lang="en-IN" dirty="0"/>
              <a:t>Deposit and withdrawal amounts entered by the user</a:t>
            </a:r>
          </a:p>
          <a:p>
            <a:pPr marL="0" indent="0">
              <a:buNone/>
            </a:pPr>
            <a:r>
              <a:rPr lang="en-IN" dirty="0"/>
              <a:t>Account data stored internally within the class object</a:t>
            </a:r>
          </a:p>
          <a:p>
            <a:pPr marL="0" indent="0">
              <a:buNone/>
            </a:pPr>
            <a:r>
              <a:rPr lang="en-IN" dirty="0"/>
              <a:t>User credentials or account identifiers for session context</a:t>
            </a:r>
          </a:p>
          <a:p>
            <a:endParaRPr lang="en-IN" dirty="0"/>
          </a:p>
        </p:txBody>
      </p:sp>
      <p:sp>
        <p:nvSpPr>
          <p:cNvPr id="5" name="Text Placeholder 4">
            <a:extLst>
              <a:ext uri="{FF2B5EF4-FFF2-40B4-BE49-F238E27FC236}">
                <a16:creationId xmlns:a16="http://schemas.microsoft.com/office/drawing/2014/main" id="{08CA62DB-C663-8DC4-B0CC-2E95B20FB786}"/>
              </a:ext>
            </a:extLst>
          </p:cNvPr>
          <p:cNvSpPr>
            <a:spLocks noGrp="1"/>
          </p:cNvSpPr>
          <p:nvPr>
            <p:ph type="body" sz="quarter" idx="3"/>
          </p:nvPr>
        </p:nvSpPr>
        <p:spPr/>
        <p:txBody>
          <a:bodyPr>
            <a:normAutofit/>
          </a:bodyPr>
          <a:lstStyle/>
          <a:p>
            <a:r>
              <a:rPr lang="en-IN" sz="3200" b="0" i="0" dirty="0">
                <a:solidFill>
                  <a:srgbClr val="FF0000"/>
                </a:solidFill>
                <a:effectLst/>
              </a:rPr>
              <a:t>Expected Outputs</a:t>
            </a:r>
            <a:endParaRPr lang="en-IN" sz="3200" dirty="0">
              <a:solidFill>
                <a:srgbClr val="FF0000"/>
              </a:solidFill>
            </a:endParaRPr>
          </a:p>
        </p:txBody>
      </p:sp>
      <p:sp>
        <p:nvSpPr>
          <p:cNvPr id="6" name="Content Placeholder 5">
            <a:extLst>
              <a:ext uri="{FF2B5EF4-FFF2-40B4-BE49-F238E27FC236}">
                <a16:creationId xmlns:a16="http://schemas.microsoft.com/office/drawing/2014/main" id="{4317B867-341A-A5E3-C168-426DFE588211}"/>
              </a:ext>
            </a:extLst>
          </p:cNvPr>
          <p:cNvSpPr>
            <a:spLocks noGrp="1"/>
          </p:cNvSpPr>
          <p:nvPr>
            <p:ph sz="quarter" idx="4"/>
          </p:nvPr>
        </p:nvSpPr>
        <p:spPr/>
        <p:txBody>
          <a:bodyPr>
            <a:normAutofit lnSpcReduction="10000"/>
          </a:bodyPr>
          <a:lstStyle/>
          <a:p>
            <a:pPr marL="0" indent="0">
              <a:buNone/>
            </a:pPr>
            <a:r>
              <a:rPr lang="en-IN" dirty="0"/>
              <a:t>Updated account balance displayed after each transaction</a:t>
            </a:r>
          </a:p>
          <a:p>
            <a:pPr marL="0" indent="0">
              <a:buNone/>
            </a:pPr>
            <a:r>
              <a:rPr lang="en-IN" dirty="0"/>
              <a:t>Confirmation messages for successful deposits and withdrawals</a:t>
            </a:r>
          </a:p>
          <a:p>
            <a:pPr marL="0" indent="0">
              <a:buNone/>
            </a:pPr>
            <a:r>
              <a:rPr lang="en-IN" dirty="0"/>
              <a:t>Error messages for invalid inputs or incorrect menu choices</a:t>
            </a:r>
          </a:p>
          <a:p>
            <a:pPr marL="0" indent="0">
              <a:buNone/>
            </a:pPr>
            <a:r>
              <a:rPr lang="en-IN" dirty="0"/>
              <a:t>Insufficient funds alert when withdrawal exceeds balance</a:t>
            </a:r>
          </a:p>
          <a:p>
            <a:endParaRPr lang="en-IN" dirty="0"/>
          </a:p>
        </p:txBody>
      </p:sp>
      <p:grpSp>
        <p:nvGrpSpPr>
          <p:cNvPr id="7" name="object 3">
            <a:extLst>
              <a:ext uri="{FF2B5EF4-FFF2-40B4-BE49-F238E27FC236}">
                <a16:creationId xmlns:a16="http://schemas.microsoft.com/office/drawing/2014/main" id="{F15CA158-9614-DA8E-B12F-95895CF59BB7}"/>
              </a:ext>
            </a:extLst>
          </p:cNvPr>
          <p:cNvGrpSpPr/>
          <p:nvPr/>
        </p:nvGrpSpPr>
        <p:grpSpPr>
          <a:xfrm>
            <a:off x="3845741" y="39779"/>
            <a:ext cx="5334000" cy="1198311"/>
            <a:chOff x="2648188" y="47148"/>
            <a:chExt cx="5103904" cy="1198311"/>
          </a:xfrm>
        </p:grpSpPr>
        <p:pic>
          <p:nvPicPr>
            <p:cNvPr id="8" name="object 4">
              <a:extLst>
                <a:ext uri="{FF2B5EF4-FFF2-40B4-BE49-F238E27FC236}">
                  <a16:creationId xmlns:a16="http://schemas.microsoft.com/office/drawing/2014/main" id="{0E1783EA-2C17-F12D-B844-3A6297D4348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3EA630B5-5BA5-35E6-3CDE-D58FA8F2466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103E2407-A3FF-A5A1-6BE3-3F9FE502860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64AF37F-CC46-4A1E-62C0-0C80E2F549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pic>
        <p:nvPicPr>
          <p:cNvPr id="12" name="object 3">
            <a:extLst>
              <a:ext uri="{FF2B5EF4-FFF2-40B4-BE49-F238E27FC236}">
                <a16:creationId xmlns:a16="http://schemas.microsoft.com/office/drawing/2014/main" id="{F3D084F4-9444-D7A8-C4CF-5370E0C1B234}"/>
              </a:ext>
            </a:extLst>
          </p:cNvPr>
          <p:cNvPicPr/>
          <p:nvPr/>
        </p:nvPicPr>
        <p:blipFill>
          <a:blip r:embed="rId5" cstate="print"/>
          <a:stretch>
            <a:fillRect/>
          </a:stretch>
        </p:blipFill>
        <p:spPr>
          <a:xfrm>
            <a:off x="605528" y="242973"/>
            <a:ext cx="1163002" cy="424338"/>
          </a:xfrm>
          <a:prstGeom prst="rect">
            <a:avLst/>
          </a:prstGeom>
        </p:spPr>
      </p:pic>
      <p:sp>
        <p:nvSpPr>
          <p:cNvPr id="14" name="TextBox 13">
            <a:extLst>
              <a:ext uri="{FF2B5EF4-FFF2-40B4-BE49-F238E27FC236}">
                <a16:creationId xmlns:a16="http://schemas.microsoft.com/office/drawing/2014/main" id="{E4C62ABC-82E7-1262-7A21-C9F257200902}"/>
              </a:ext>
            </a:extLst>
          </p:cNvPr>
          <p:cNvSpPr txBox="1"/>
          <p:nvPr/>
        </p:nvSpPr>
        <p:spPr>
          <a:xfrm>
            <a:off x="5043948" y="312796"/>
            <a:ext cx="60960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 Presentation </a:t>
            </a:r>
            <a:endParaRPr lang="en-IN" dirty="0"/>
          </a:p>
        </p:txBody>
      </p:sp>
    </p:spTree>
    <p:extLst>
      <p:ext uri="{BB962C8B-B14F-4D97-AF65-F5344CB8AC3E}">
        <p14:creationId xmlns:p14="http://schemas.microsoft.com/office/powerpoint/2010/main" val="1310849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C05FE-C9B6-219C-0D8B-9497E0114858}"/>
              </a:ext>
            </a:extLst>
          </p:cNvPr>
          <p:cNvSpPr>
            <a:spLocks noGrp="1"/>
          </p:cNvSpPr>
          <p:nvPr>
            <p:ph type="title"/>
          </p:nvPr>
        </p:nvSpPr>
        <p:spPr/>
        <p:txBody>
          <a:bodyPr>
            <a:normAutofit/>
          </a:bodyPr>
          <a:lstStyle/>
          <a:p>
            <a:r>
              <a:rPr lang="en-IN" sz="2800" b="0" i="0" dirty="0">
                <a:solidFill>
                  <a:schemeClr val="accent1">
                    <a:lumMod val="75000"/>
                  </a:schemeClr>
                </a:solidFill>
                <a:effectLst/>
                <a:latin typeface="Elephant" panose="02020904090505020303" pitchFamily="18" charset="0"/>
              </a:rPr>
              <a:t>                       Algorithm &amp; Implementation</a:t>
            </a:r>
            <a:endParaRPr lang="en-IN" sz="2800" dirty="0">
              <a:solidFill>
                <a:schemeClr val="accent1">
                  <a:lumMod val="75000"/>
                </a:schemeClr>
              </a:solidFill>
              <a:latin typeface="Elephant" panose="02020904090505020303" pitchFamily="18" charset="0"/>
            </a:endParaRPr>
          </a:p>
        </p:txBody>
      </p:sp>
      <p:sp>
        <p:nvSpPr>
          <p:cNvPr id="3" name="TextBox 2">
            <a:extLst>
              <a:ext uri="{FF2B5EF4-FFF2-40B4-BE49-F238E27FC236}">
                <a16:creationId xmlns:a16="http://schemas.microsoft.com/office/drawing/2014/main" id="{B587CD10-8144-6FD6-6C59-C28A2F24AE17}"/>
              </a:ext>
            </a:extLst>
          </p:cNvPr>
          <p:cNvSpPr txBox="1"/>
          <p:nvPr/>
        </p:nvSpPr>
        <p:spPr>
          <a:xfrm>
            <a:off x="7334865" y="1293501"/>
            <a:ext cx="4463844" cy="5078313"/>
          </a:xfrm>
          <a:prstGeom prst="rect">
            <a:avLst/>
          </a:prstGeom>
          <a:noFill/>
        </p:spPr>
        <p:txBody>
          <a:bodyPr wrap="square" numCol="1" rtlCol="0">
            <a:spAutoFit/>
          </a:bodyPr>
          <a:lstStyle/>
          <a:p>
            <a:pPr lvl="1"/>
            <a:r>
              <a:rPr lang="en-IN" dirty="0"/>
              <a:t>Display the result. </a:t>
            </a:r>
          </a:p>
          <a:p>
            <a:pPr lvl="1"/>
            <a:r>
              <a:rPr lang="en-IN" dirty="0"/>
              <a:t>If invalid, display an error message. </a:t>
            </a:r>
          </a:p>
          <a:p>
            <a:pPr lvl="0"/>
            <a:r>
              <a:rPr lang="en-IN" dirty="0"/>
              <a:t>If the choice is </a:t>
            </a:r>
            <a:r>
              <a:rPr lang="en-IN" b="1" dirty="0"/>
              <a:t>3 – Check Balance</a:t>
            </a:r>
            <a:r>
              <a:rPr lang="en-IN" dirty="0"/>
              <a:t>: </a:t>
            </a:r>
          </a:p>
          <a:p>
            <a:pPr lvl="1"/>
            <a:r>
              <a:rPr lang="en-IN" dirty="0"/>
              <a:t>Read the current balance. </a:t>
            </a:r>
          </a:p>
          <a:p>
            <a:pPr lvl="1"/>
            <a:r>
              <a:rPr lang="en-IN" dirty="0"/>
              <a:t>Display the balance. </a:t>
            </a:r>
          </a:p>
          <a:p>
            <a:pPr lvl="0"/>
            <a:r>
              <a:rPr lang="en-IN" dirty="0"/>
              <a:t>If the choice is </a:t>
            </a:r>
            <a:r>
              <a:rPr lang="en-IN" b="1" dirty="0"/>
              <a:t>4 – View Records</a:t>
            </a:r>
            <a:r>
              <a:rPr lang="en-IN" dirty="0"/>
              <a:t>: </a:t>
            </a:r>
          </a:p>
          <a:p>
            <a:pPr lvl="1"/>
            <a:r>
              <a:rPr lang="en-IN" dirty="0"/>
              <a:t>Read the transaction records. </a:t>
            </a:r>
          </a:p>
          <a:p>
            <a:pPr lvl="1"/>
            <a:r>
              <a:rPr lang="en-IN" dirty="0"/>
              <a:t>Display the deposit and withdrawal records. </a:t>
            </a:r>
          </a:p>
          <a:p>
            <a:pPr lvl="0"/>
            <a:r>
              <a:rPr lang="en-IN" dirty="0"/>
              <a:t>If the choice is </a:t>
            </a:r>
            <a:r>
              <a:rPr lang="en-IN" b="1" dirty="0"/>
              <a:t>5 – Exit</a:t>
            </a:r>
            <a:r>
              <a:rPr lang="en-IN" dirty="0"/>
              <a:t>: </a:t>
            </a:r>
          </a:p>
          <a:p>
            <a:pPr lvl="1"/>
            <a:r>
              <a:rPr lang="en-IN" dirty="0"/>
              <a:t>Close all files. </a:t>
            </a:r>
          </a:p>
          <a:p>
            <a:pPr lvl="1"/>
            <a:r>
              <a:rPr lang="en-IN" dirty="0"/>
              <a:t>Terminate the program. </a:t>
            </a:r>
          </a:p>
          <a:p>
            <a:pPr lvl="0"/>
            <a:r>
              <a:rPr lang="en-IN" dirty="0"/>
              <a:t>For choices other than 1–5, display </a:t>
            </a:r>
            <a:r>
              <a:rPr lang="en-IN" b="1" dirty="0"/>
              <a:t>Invalid Choice</a:t>
            </a:r>
            <a:r>
              <a:rPr lang="en-IN" dirty="0"/>
              <a:t>. </a:t>
            </a:r>
          </a:p>
          <a:p>
            <a:pPr lvl="0"/>
            <a:r>
              <a:rPr lang="en-IN" dirty="0"/>
              <a:t>Repeat the main menu until the user selects </a:t>
            </a:r>
            <a:r>
              <a:rPr lang="en-IN" b="1" dirty="0"/>
              <a:t>Exit</a:t>
            </a:r>
            <a:r>
              <a:rPr lang="en-IN" dirty="0"/>
              <a:t>. </a:t>
            </a:r>
          </a:p>
          <a:p>
            <a:pPr lvl="0"/>
            <a:r>
              <a:rPr lang="en-IN" b="1" dirty="0"/>
              <a:t>End</a:t>
            </a:r>
            <a:r>
              <a:rPr lang="en-IN" dirty="0"/>
              <a:t>. </a:t>
            </a:r>
          </a:p>
          <a:p>
            <a:endParaRPr lang="en-IN" dirty="0"/>
          </a:p>
        </p:txBody>
      </p:sp>
      <p:grpSp>
        <p:nvGrpSpPr>
          <p:cNvPr id="5" name="object 3">
            <a:extLst>
              <a:ext uri="{FF2B5EF4-FFF2-40B4-BE49-F238E27FC236}">
                <a16:creationId xmlns:a16="http://schemas.microsoft.com/office/drawing/2014/main" id="{5C6A9559-24E0-5749-65F2-6CE29DAEEEBC}"/>
              </a:ext>
            </a:extLst>
          </p:cNvPr>
          <p:cNvGrpSpPr/>
          <p:nvPr/>
        </p:nvGrpSpPr>
        <p:grpSpPr>
          <a:xfrm>
            <a:off x="3845741" y="39779"/>
            <a:ext cx="5334000" cy="1198311"/>
            <a:chOff x="2648188" y="47148"/>
            <a:chExt cx="5103904" cy="1198311"/>
          </a:xfrm>
        </p:grpSpPr>
        <p:pic>
          <p:nvPicPr>
            <p:cNvPr id="6" name="object 4">
              <a:extLst>
                <a:ext uri="{FF2B5EF4-FFF2-40B4-BE49-F238E27FC236}">
                  <a16:creationId xmlns:a16="http://schemas.microsoft.com/office/drawing/2014/main" id="{A62581E7-2A87-D2D3-B3FE-B5C411783206}"/>
                </a:ext>
              </a:extLst>
            </p:cNvPr>
            <p:cNvPicPr/>
            <p:nvPr/>
          </p:nvPicPr>
          <p:blipFill>
            <a:blip r:embed="rId2"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0188944-C602-7BD8-B3E8-93FC336B40BA}"/>
                </a:ext>
              </a:extLst>
            </p:cNvPr>
            <p:cNvPicPr/>
            <p:nvPr/>
          </p:nvPicPr>
          <p:blipFill>
            <a:blip r:embed="rId3"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8EDB3D0-0EB8-4911-B0D9-1FED21798D9F}"/>
                </a:ext>
              </a:extLst>
            </p:cNvPr>
            <p:cNvPicPr/>
            <p:nvPr/>
          </p:nvPicPr>
          <p:blipFill>
            <a:blip r:embed="rId4"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AC6062C5-E493-F6BA-D03A-12490E49B85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pic>
        <p:nvPicPr>
          <p:cNvPr id="10" name="object 3">
            <a:extLst>
              <a:ext uri="{FF2B5EF4-FFF2-40B4-BE49-F238E27FC236}">
                <a16:creationId xmlns:a16="http://schemas.microsoft.com/office/drawing/2014/main" id="{CAC6AD8E-26D3-63EB-5691-59FE75244831}"/>
              </a:ext>
            </a:extLst>
          </p:cNvPr>
          <p:cNvPicPr/>
          <p:nvPr/>
        </p:nvPicPr>
        <p:blipFill>
          <a:blip r:embed="rId5" cstate="print"/>
          <a:stretch>
            <a:fillRect/>
          </a:stretch>
        </p:blipFill>
        <p:spPr>
          <a:xfrm>
            <a:off x="605528" y="242973"/>
            <a:ext cx="1163002" cy="424338"/>
          </a:xfrm>
          <a:prstGeom prst="rect">
            <a:avLst/>
          </a:prstGeom>
        </p:spPr>
      </p:pic>
      <p:sp>
        <p:nvSpPr>
          <p:cNvPr id="12" name="TextBox 11">
            <a:extLst>
              <a:ext uri="{FF2B5EF4-FFF2-40B4-BE49-F238E27FC236}">
                <a16:creationId xmlns:a16="http://schemas.microsoft.com/office/drawing/2014/main" id="{D65E375A-E85C-B8E9-988C-CE305C497F68}"/>
              </a:ext>
            </a:extLst>
          </p:cNvPr>
          <p:cNvSpPr txBox="1"/>
          <p:nvPr/>
        </p:nvSpPr>
        <p:spPr>
          <a:xfrm>
            <a:off x="5284435" y="255877"/>
            <a:ext cx="6096000" cy="369332"/>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 Presentation </a:t>
            </a:r>
            <a:endParaRPr lang="en-IN" dirty="0"/>
          </a:p>
        </p:txBody>
      </p:sp>
      <p:sp>
        <p:nvSpPr>
          <p:cNvPr id="11" name="TextBox 10">
            <a:extLst>
              <a:ext uri="{FF2B5EF4-FFF2-40B4-BE49-F238E27FC236}">
                <a16:creationId xmlns:a16="http://schemas.microsoft.com/office/drawing/2014/main" id="{B6C05348-5FB5-6F55-CB5C-A54C26E77AE9}"/>
              </a:ext>
            </a:extLst>
          </p:cNvPr>
          <p:cNvSpPr txBox="1"/>
          <p:nvPr/>
        </p:nvSpPr>
        <p:spPr>
          <a:xfrm>
            <a:off x="226209" y="953366"/>
            <a:ext cx="4973926" cy="6186309"/>
          </a:xfrm>
          <a:prstGeom prst="rect">
            <a:avLst/>
          </a:prstGeom>
          <a:noFill/>
        </p:spPr>
        <p:txBody>
          <a:bodyPr wrap="none" rtlCol="0">
            <a:spAutoFit/>
          </a:bodyPr>
          <a:lstStyle/>
          <a:p>
            <a:pPr lvl="0"/>
            <a:r>
              <a:rPr lang="en-IN" b="1" dirty="0"/>
              <a:t>Start</a:t>
            </a:r>
            <a:r>
              <a:rPr lang="en-IN" dirty="0"/>
              <a:t> </a:t>
            </a:r>
          </a:p>
          <a:p>
            <a:pPr lvl="0"/>
            <a:r>
              <a:rPr lang="en-IN" dirty="0"/>
              <a:t>Define the </a:t>
            </a:r>
            <a:r>
              <a:rPr lang="en-IN" dirty="0" err="1"/>
              <a:t>BankAccount</a:t>
            </a:r>
            <a:r>
              <a:rPr lang="en-IN" dirty="0"/>
              <a:t> class. </a:t>
            </a:r>
          </a:p>
          <a:p>
            <a:pPr lvl="0"/>
            <a:r>
              <a:rPr lang="en-IN" dirty="0"/>
              <a:t>Create an object of the </a:t>
            </a:r>
            <a:r>
              <a:rPr lang="en-IN" dirty="0" err="1"/>
              <a:t>BankAccount</a:t>
            </a:r>
            <a:r>
              <a:rPr lang="en-IN" dirty="0"/>
              <a:t> class. </a:t>
            </a:r>
          </a:p>
          <a:p>
            <a:pPr lvl="0"/>
            <a:r>
              <a:rPr lang="en-IN" dirty="0"/>
              <a:t>Enter the </a:t>
            </a:r>
            <a:r>
              <a:rPr lang="en-IN" b="1" dirty="0"/>
              <a:t>main program loop</a:t>
            </a:r>
            <a:r>
              <a:rPr lang="en-IN" dirty="0"/>
              <a:t>. </a:t>
            </a:r>
          </a:p>
          <a:p>
            <a:pPr lvl="0"/>
            <a:r>
              <a:rPr lang="en-IN" dirty="0"/>
              <a:t>Display the following menu: </a:t>
            </a:r>
          </a:p>
          <a:p>
            <a:pPr lvl="2"/>
            <a:r>
              <a:rPr lang="en-IN" dirty="0"/>
              <a:t>Deposit </a:t>
            </a:r>
          </a:p>
          <a:p>
            <a:pPr lvl="2"/>
            <a:r>
              <a:rPr lang="en-IN" dirty="0"/>
              <a:t>Withdraw </a:t>
            </a:r>
          </a:p>
          <a:p>
            <a:pPr lvl="2"/>
            <a:r>
              <a:rPr lang="en-IN" dirty="0"/>
              <a:t>Check Balance </a:t>
            </a:r>
          </a:p>
          <a:p>
            <a:pPr lvl="2"/>
            <a:r>
              <a:rPr lang="en-IN" dirty="0"/>
              <a:t>View Records </a:t>
            </a:r>
          </a:p>
          <a:p>
            <a:pPr lvl="2"/>
            <a:r>
              <a:rPr lang="en-IN" dirty="0"/>
              <a:t>Exit </a:t>
            </a:r>
          </a:p>
          <a:p>
            <a:pPr lvl="0"/>
            <a:r>
              <a:rPr lang="en-IN" dirty="0"/>
              <a:t>Read the user's choice. </a:t>
            </a:r>
          </a:p>
          <a:p>
            <a:pPr lvl="0"/>
            <a:r>
              <a:rPr lang="en-IN" dirty="0"/>
              <a:t>If the choice is </a:t>
            </a:r>
            <a:r>
              <a:rPr lang="en-IN" b="1" dirty="0"/>
              <a:t>1 – Deposit</a:t>
            </a:r>
            <a:r>
              <a:rPr lang="en-IN" dirty="0"/>
              <a:t>: </a:t>
            </a:r>
          </a:p>
          <a:p>
            <a:pPr lvl="1"/>
            <a:r>
              <a:rPr lang="en-IN" dirty="0"/>
              <a:t>Process the deposit amount. </a:t>
            </a:r>
          </a:p>
          <a:p>
            <a:pPr lvl="1"/>
            <a:r>
              <a:rPr lang="en-IN" dirty="0"/>
              <a:t>Check whether the deposit is valid. </a:t>
            </a:r>
          </a:p>
          <a:p>
            <a:pPr lvl="1"/>
            <a:r>
              <a:rPr lang="en-IN" dirty="0"/>
              <a:t>If valid, update and save the account balance. </a:t>
            </a:r>
          </a:p>
          <a:p>
            <a:pPr lvl="1"/>
            <a:r>
              <a:rPr lang="en-IN" dirty="0"/>
              <a:t>Display the result. </a:t>
            </a:r>
          </a:p>
          <a:p>
            <a:pPr lvl="1"/>
            <a:r>
              <a:rPr lang="en-IN" dirty="0"/>
              <a:t>If invalid, display an error message. </a:t>
            </a:r>
          </a:p>
          <a:p>
            <a:pPr lvl="0"/>
            <a:r>
              <a:rPr lang="en-IN" dirty="0"/>
              <a:t>If the choice is </a:t>
            </a:r>
            <a:r>
              <a:rPr lang="en-IN" b="1" dirty="0"/>
              <a:t>2 – Withdraw</a:t>
            </a:r>
            <a:r>
              <a:rPr lang="en-IN" dirty="0"/>
              <a:t>: </a:t>
            </a:r>
          </a:p>
          <a:p>
            <a:pPr lvl="1"/>
            <a:r>
              <a:rPr lang="en-IN" dirty="0"/>
              <a:t>Process the withdrawal amount. </a:t>
            </a:r>
          </a:p>
          <a:p>
            <a:pPr lvl="1"/>
            <a:r>
              <a:rPr lang="en-IN" dirty="0"/>
              <a:t>Check whether the withdrawal is valid. </a:t>
            </a:r>
          </a:p>
          <a:p>
            <a:pPr lvl="1"/>
            <a:r>
              <a:rPr lang="en-IN" dirty="0"/>
              <a:t>If valid, update and save the account balance. </a:t>
            </a:r>
          </a:p>
          <a:p>
            <a:endParaRPr lang="en-IN" dirty="0"/>
          </a:p>
        </p:txBody>
      </p:sp>
    </p:spTree>
    <p:extLst>
      <p:ext uri="{BB962C8B-B14F-4D97-AF65-F5344CB8AC3E}">
        <p14:creationId xmlns:p14="http://schemas.microsoft.com/office/powerpoint/2010/main" val="1587056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1BF8B-BFCA-839E-6A61-7241179E3330}"/>
              </a:ext>
            </a:extLst>
          </p:cNvPr>
          <p:cNvSpPr>
            <a:spLocks noGrp="1"/>
          </p:cNvSpPr>
          <p:nvPr>
            <p:ph type="title"/>
          </p:nvPr>
        </p:nvSpPr>
        <p:spPr>
          <a:xfrm>
            <a:off x="120445" y="541989"/>
            <a:ext cx="10515600" cy="1325563"/>
          </a:xfrm>
        </p:spPr>
        <p:txBody>
          <a:bodyPr/>
          <a:lstStyle/>
          <a:p>
            <a:r>
              <a:rPr lang="en-IN" b="0" i="0" dirty="0">
                <a:effectLst/>
              </a:rPr>
              <a:t>Algorithm &amp; Implementation</a:t>
            </a:r>
            <a:endParaRPr lang="en-IN" dirty="0"/>
          </a:p>
        </p:txBody>
      </p:sp>
      <p:grpSp>
        <p:nvGrpSpPr>
          <p:cNvPr id="6" name="object 3">
            <a:extLst>
              <a:ext uri="{FF2B5EF4-FFF2-40B4-BE49-F238E27FC236}">
                <a16:creationId xmlns:a16="http://schemas.microsoft.com/office/drawing/2014/main" id="{E43FC688-8562-5F44-5FF0-159EBC869CF8}"/>
              </a:ext>
            </a:extLst>
          </p:cNvPr>
          <p:cNvGrpSpPr/>
          <p:nvPr/>
        </p:nvGrpSpPr>
        <p:grpSpPr>
          <a:xfrm>
            <a:off x="3845741" y="39779"/>
            <a:ext cx="5334000" cy="1198311"/>
            <a:chOff x="2648188" y="47148"/>
            <a:chExt cx="5103904" cy="1198311"/>
          </a:xfrm>
        </p:grpSpPr>
        <p:pic>
          <p:nvPicPr>
            <p:cNvPr id="7" name="object 4">
              <a:extLst>
                <a:ext uri="{FF2B5EF4-FFF2-40B4-BE49-F238E27FC236}">
                  <a16:creationId xmlns:a16="http://schemas.microsoft.com/office/drawing/2014/main" id="{2FD11CB2-5BF7-73FA-DB54-378AC07F5710}"/>
                </a:ext>
              </a:extLst>
            </p:cNvPr>
            <p:cNvPicPr/>
            <p:nvPr/>
          </p:nvPicPr>
          <p:blipFill>
            <a:blip r:embed="rId2"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94B5AC02-A52F-1679-9968-AB87E40A18D0}"/>
                </a:ext>
              </a:extLst>
            </p:cNvPr>
            <p:cNvPicPr/>
            <p:nvPr/>
          </p:nvPicPr>
          <p:blipFill>
            <a:blip r:embed="rId3"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40E99603-3252-D0E7-FDD8-E61CAA265FB9}"/>
                </a:ext>
              </a:extLst>
            </p:cNvPr>
            <p:cNvPicPr/>
            <p:nvPr/>
          </p:nvPicPr>
          <p:blipFill>
            <a:blip r:embed="rId4"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BAEBF9E0-9E2C-4553-9CA2-570867AB367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endParaRPr dirty="0"/>
            </a:p>
          </p:txBody>
        </p:sp>
      </p:grpSp>
      <p:pic>
        <p:nvPicPr>
          <p:cNvPr id="11" name="object 3">
            <a:extLst>
              <a:ext uri="{FF2B5EF4-FFF2-40B4-BE49-F238E27FC236}">
                <a16:creationId xmlns:a16="http://schemas.microsoft.com/office/drawing/2014/main" id="{E8A85193-1C12-BFC5-FA3A-6C82A723F480}"/>
              </a:ext>
            </a:extLst>
          </p:cNvPr>
          <p:cNvPicPr/>
          <p:nvPr/>
        </p:nvPicPr>
        <p:blipFill>
          <a:blip r:embed="rId5" cstate="print"/>
          <a:stretch>
            <a:fillRect/>
          </a:stretch>
        </p:blipFill>
        <p:spPr>
          <a:xfrm>
            <a:off x="605528" y="242973"/>
            <a:ext cx="1163002" cy="424338"/>
          </a:xfrm>
          <a:prstGeom prst="rect">
            <a:avLst/>
          </a:prstGeom>
        </p:spPr>
      </p:pic>
      <p:sp>
        <p:nvSpPr>
          <p:cNvPr id="13" name="TextBox 12">
            <a:extLst>
              <a:ext uri="{FF2B5EF4-FFF2-40B4-BE49-F238E27FC236}">
                <a16:creationId xmlns:a16="http://schemas.microsoft.com/office/drawing/2014/main" id="{381FCACB-369A-E37F-1F67-1D8B4F213821}"/>
              </a:ext>
            </a:extLst>
          </p:cNvPr>
          <p:cNvSpPr txBox="1"/>
          <p:nvPr/>
        </p:nvSpPr>
        <p:spPr>
          <a:xfrm>
            <a:off x="4776071" y="269602"/>
            <a:ext cx="6096000" cy="369332"/>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MODUALS</a:t>
            </a:r>
            <a:endParaRPr lang="en-IN" dirty="0"/>
          </a:p>
        </p:txBody>
      </p:sp>
      <p:pic>
        <p:nvPicPr>
          <p:cNvPr id="25" name="Picture 24">
            <a:extLst>
              <a:ext uri="{FF2B5EF4-FFF2-40B4-BE49-F238E27FC236}">
                <a16:creationId xmlns:a16="http://schemas.microsoft.com/office/drawing/2014/main" id="{4831159E-F658-52BC-2CA5-85A827B096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537106"/>
            <a:ext cx="12192000" cy="5216603"/>
          </a:xfrm>
          <a:prstGeom prst="rect">
            <a:avLst/>
          </a:prstGeom>
        </p:spPr>
      </p:pic>
    </p:spTree>
    <p:extLst>
      <p:ext uri="{BB962C8B-B14F-4D97-AF65-F5344CB8AC3E}">
        <p14:creationId xmlns:p14="http://schemas.microsoft.com/office/powerpoint/2010/main" val="2046499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5940FA-F274-8E7D-A681-3B07DFBE0B00}"/>
              </a:ext>
            </a:extLst>
          </p:cNvPr>
          <p:cNvSpPr txBox="1"/>
          <p:nvPr/>
        </p:nvSpPr>
        <p:spPr>
          <a:xfrm>
            <a:off x="1219200" y="1288025"/>
            <a:ext cx="9763432" cy="286232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dirty="0"/>
              <a:t>It replaces traditional manual with a secure and efficient digital solution.</a:t>
            </a:r>
          </a:p>
          <a:p>
            <a:pPr marL="342900" indent="-342900" algn="just">
              <a:lnSpc>
                <a:spcPct val="150000"/>
              </a:lnSpc>
              <a:buFont typeface="Arial" panose="020B0604020202020204" pitchFamily="34" charset="0"/>
              <a:buChar char="•"/>
            </a:pPr>
            <a:r>
              <a:rPr lang="en-US" dirty="0"/>
              <a:t>The system provides key functionalities like WHITDRAW, DIPOSITE,CHECK </a:t>
            </a:r>
            <a:r>
              <a:rPr lang="en-US" dirty="0" err="1"/>
              <a:t>BLANCE.It</a:t>
            </a:r>
            <a:r>
              <a:rPr lang="en-US" dirty="0"/>
              <a:t> ensures data accuracy, transparency, less time and security throughout the </a:t>
            </a:r>
            <a:r>
              <a:rPr lang="en-US" dirty="0" err="1"/>
              <a:t>acccount</a:t>
            </a:r>
            <a:r>
              <a:rPr lang="en-US" dirty="0"/>
              <a:t> .</a:t>
            </a:r>
          </a:p>
          <a:p>
            <a:pPr marL="342900" indent="-342900" algn="just">
              <a:lnSpc>
                <a:spcPct val="150000"/>
              </a:lnSpc>
              <a:buFont typeface="Arial" panose="020B0604020202020204" pitchFamily="34" charset="0"/>
              <a:buChar char="•"/>
            </a:pPr>
            <a:r>
              <a:rPr lang="en-US" dirty="0"/>
              <a:t>Technologies like  C++</a:t>
            </a:r>
          </a:p>
          <a:p>
            <a:pPr marL="342900" indent="-342900" algn="just">
              <a:lnSpc>
                <a:spcPct val="150000"/>
              </a:lnSpc>
              <a:buFont typeface="Arial" panose="020B0604020202020204" pitchFamily="34" charset="0"/>
              <a:buChar char="•"/>
            </a:pPr>
            <a:r>
              <a:rPr lang="en-US" dirty="0"/>
              <a:t>The system improves Banking efficiency and reduces manual effort while ensuring fair and accurate results.</a:t>
            </a:r>
          </a:p>
          <a:p>
            <a:endParaRPr lang="en-IN" dirty="0"/>
          </a:p>
        </p:txBody>
      </p:sp>
      <p:grpSp>
        <p:nvGrpSpPr>
          <p:cNvPr id="3" name="object 3">
            <a:extLst>
              <a:ext uri="{FF2B5EF4-FFF2-40B4-BE49-F238E27FC236}">
                <a16:creationId xmlns:a16="http://schemas.microsoft.com/office/drawing/2014/main" id="{0511B792-4D97-6A08-98BE-B85EAD07AB4C}"/>
              </a:ext>
            </a:extLst>
          </p:cNvPr>
          <p:cNvGrpSpPr/>
          <p:nvPr/>
        </p:nvGrpSpPr>
        <p:grpSpPr>
          <a:xfrm>
            <a:off x="3599935" y="19664"/>
            <a:ext cx="5334000" cy="1198311"/>
            <a:chOff x="2648188" y="47148"/>
            <a:chExt cx="5103904" cy="1198311"/>
          </a:xfrm>
        </p:grpSpPr>
        <p:pic>
          <p:nvPicPr>
            <p:cNvPr id="4" name="object 4">
              <a:extLst>
                <a:ext uri="{FF2B5EF4-FFF2-40B4-BE49-F238E27FC236}">
                  <a16:creationId xmlns:a16="http://schemas.microsoft.com/office/drawing/2014/main" id="{DB87E062-4394-85A3-CD1E-1267D8EABD4E}"/>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D69088D1-596D-D8B3-1981-583DE24ECFD3}"/>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245E20E5-AD06-50DC-0631-183BE96B7C04}"/>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2E435194-D133-24CA-2200-E3221D937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defPPr>
                <a:defRPr kern="0"/>
              </a:defPPr>
            </a:lstStyle>
            <a:p>
              <a:r>
                <a:rPr lang="en-IN" b="1" dirty="0">
                  <a:solidFill>
                    <a:schemeClr val="bg1"/>
                  </a:solidFill>
                  <a:latin typeface="Times New Roman" panose="02020603050405020304" pitchFamily="18" charset="0"/>
                  <a:cs typeface="Times New Roman" panose="02020603050405020304" pitchFamily="18" charset="0"/>
                </a:rPr>
                <a:t>                             Presentation </a:t>
              </a:r>
              <a:endParaRPr dirty="0"/>
            </a:p>
          </p:txBody>
        </p:sp>
      </p:grpSp>
      <p:pic>
        <p:nvPicPr>
          <p:cNvPr id="11" name="Picture 10">
            <a:extLst>
              <a:ext uri="{FF2B5EF4-FFF2-40B4-BE49-F238E27FC236}">
                <a16:creationId xmlns:a16="http://schemas.microsoft.com/office/drawing/2014/main" id="{E4637DB3-03D9-94F9-C256-223895232792}"/>
              </a:ext>
            </a:extLst>
          </p:cNvPr>
          <p:cNvPicPr>
            <a:picLocks noChangeAspect="1"/>
          </p:cNvPicPr>
          <p:nvPr/>
        </p:nvPicPr>
        <p:blipFill>
          <a:blip r:embed="rId5"/>
          <a:stretch>
            <a:fillRect/>
          </a:stretch>
        </p:blipFill>
        <p:spPr>
          <a:xfrm>
            <a:off x="479665" y="428604"/>
            <a:ext cx="1164437" cy="420660"/>
          </a:xfrm>
          <a:prstGeom prst="rect">
            <a:avLst/>
          </a:prstGeom>
        </p:spPr>
      </p:pic>
      <p:sp>
        <p:nvSpPr>
          <p:cNvPr id="8" name="TextBox 7">
            <a:extLst>
              <a:ext uri="{FF2B5EF4-FFF2-40B4-BE49-F238E27FC236}">
                <a16:creationId xmlns:a16="http://schemas.microsoft.com/office/drawing/2014/main" id="{8754A118-8CF6-3D43-1A19-41BC49E12327}"/>
              </a:ext>
            </a:extLst>
          </p:cNvPr>
          <p:cNvSpPr txBox="1"/>
          <p:nvPr/>
        </p:nvSpPr>
        <p:spPr>
          <a:xfrm>
            <a:off x="1186880" y="918693"/>
            <a:ext cx="2359620" cy="369332"/>
          </a:xfrm>
          <a:prstGeom prst="rect">
            <a:avLst/>
          </a:prstGeom>
          <a:noFill/>
        </p:spPr>
        <p:txBody>
          <a:bodyPr wrap="none" rtlCol="0">
            <a:spAutoFit/>
          </a:bodyPr>
          <a:lstStyle/>
          <a:p>
            <a:r>
              <a:rPr lang="en-IN" dirty="0">
                <a:solidFill>
                  <a:schemeClr val="accent1">
                    <a:lumMod val="75000"/>
                  </a:schemeClr>
                </a:solidFill>
                <a:latin typeface="Elephant" panose="02020904090505020303" pitchFamily="18" charset="0"/>
              </a:rPr>
              <a:t>CONCLUSTION :</a:t>
            </a:r>
          </a:p>
        </p:txBody>
      </p:sp>
    </p:spTree>
    <p:extLst>
      <p:ext uri="{BB962C8B-B14F-4D97-AF65-F5344CB8AC3E}">
        <p14:creationId xmlns:p14="http://schemas.microsoft.com/office/powerpoint/2010/main" val="7862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C2E6C-ED52-7AF9-430E-DADA6BBA16AB}"/>
              </a:ext>
            </a:extLst>
          </p:cNvPr>
          <p:cNvSpPr>
            <a:spLocks noGrp="1"/>
          </p:cNvSpPr>
          <p:nvPr>
            <p:ph type="title"/>
          </p:nvPr>
        </p:nvSpPr>
        <p:spPr>
          <a:xfrm>
            <a:off x="3753255" y="2648231"/>
            <a:ext cx="10515600" cy="1325563"/>
          </a:xfrm>
        </p:spPr>
        <p:txBody>
          <a:bodyPr/>
          <a:lstStyle/>
          <a:p>
            <a:r>
              <a:rPr lang="en-IN" dirty="0">
                <a:solidFill>
                  <a:schemeClr val="accent2">
                    <a:lumMod val="75000"/>
                  </a:schemeClr>
                </a:solidFill>
                <a:latin typeface="Elephant" panose="02020904090505020303" pitchFamily="18" charset="0"/>
              </a:rPr>
              <a:t>THANK YOU </a:t>
            </a:r>
          </a:p>
        </p:txBody>
      </p:sp>
      <p:pic>
        <p:nvPicPr>
          <p:cNvPr id="4" name="object 2">
            <a:extLst>
              <a:ext uri="{FF2B5EF4-FFF2-40B4-BE49-F238E27FC236}">
                <a16:creationId xmlns:a16="http://schemas.microsoft.com/office/drawing/2014/main" id="{1ABCE953-4EB8-FF69-13EF-0FC0217807B3}"/>
              </a:ext>
            </a:extLst>
          </p:cNvPr>
          <p:cNvPicPr/>
          <p:nvPr/>
        </p:nvPicPr>
        <p:blipFill>
          <a:blip r:embed="rId2" cstate="print"/>
          <a:stretch>
            <a:fillRect/>
          </a:stretch>
        </p:blipFill>
        <p:spPr>
          <a:xfrm>
            <a:off x="3426752" y="245037"/>
            <a:ext cx="4610910" cy="628649"/>
          </a:xfrm>
          <a:prstGeom prst="rect">
            <a:avLst/>
          </a:prstGeom>
        </p:spPr>
      </p:pic>
    </p:spTree>
    <p:extLst>
      <p:ext uri="{BB962C8B-B14F-4D97-AF65-F5344CB8AC3E}">
        <p14:creationId xmlns:p14="http://schemas.microsoft.com/office/powerpoint/2010/main" val="3148869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391</TotalTime>
  <Words>696</Words>
  <Application>Microsoft Office PowerPoint</Application>
  <PresentationFormat>Widescreen</PresentationFormat>
  <Paragraphs>105</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(Body)</vt:lpstr>
      <vt:lpstr>Calibri Light</vt:lpstr>
      <vt:lpstr>Elephant</vt:lpstr>
      <vt:lpstr>Times New Roman</vt:lpstr>
      <vt:lpstr>Wingdings</vt:lpstr>
      <vt:lpstr>Office Theme</vt:lpstr>
      <vt:lpstr>Bank Account System Object-Oriented Programming using C++  REVIEW -2</vt:lpstr>
      <vt:lpstr>Project Overview</vt:lpstr>
      <vt:lpstr>Project Objectives &amp; Benefits</vt:lpstr>
      <vt:lpstr>Planned Modules &amp; Functions</vt:lpstr>
      <vt:lpstr>                 Inputs &amp; Expected Outputs</vt:lpstr>
      <vt:lpstr>                       Algorithm &amp; Implementation</vt:lpstr>
      <vt:lpstr>Algorithm &amp; Implementation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vemuri praveen</dc:creator>
  <cp:lastModifiedBy>vemuri praveen</cp:lastModifiedBy>
  <cp:revision>1</cp:revision>
  <dcterms:created xsi:type="dcterms:W3CDTF">2026-08-11T17:11:40Z</dcterms:created>
  <dcterms:modified xsi:type="dcterms:W3CDTF">2026-09-22T05:36:17Z</dcterms:modified>
</cp:coreProperties>
</file>